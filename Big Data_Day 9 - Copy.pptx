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Lst>
  <p:notesMasterIdLst>
    <p:notesMasterId r:id="rId31"/>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Lst>
  <p:sldSz cx="9144000" cy="5143500" type="screen16x9"/>
  <p:notesSz cx="6858000" cy="9144000"/>
  <p:embeddedFontLst>
    <p:embeddedFont>
      <p:font typeface="Proxima Nova" panose="020B060402020202020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0NOkkbgie0JMwhfvvoByFzJcg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1024" y="56"/>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3.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6ddd9e2278_0_14: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21" name="Google Shape;421;g26ddd9e2278_0_14: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82e807ed40_0_5: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29" name="Google Shape;429;g282e807ed40_0_5: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82e807ed40_0_40: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37" name="Google Shape;437;g282e807ed40_0_40: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82e807ed40_0_22: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46" name="Google Shape;446;g282e807ed40_0_2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82e807ed40_0_15: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54" name="Google Shape;454;g282e807ed40_0_15: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82e807ed40_0_32: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62" name="Google Shape;462;g282e807ed40_0_3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282e807ed40_0_101: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70" name="Google Shape;470;g282e807ed40_0_10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282e807ed40_0_48: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79" name="Google Shape;479;g282e807ed40_0_48: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82e807ed40_0_57: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87" name="Google Shape;487;g282e807ed40_0_57: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282e807ed40_0_65: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95" name="Google Shape;495;g282e807ed40_0_65: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282e807ed40_0_72: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03" name="Google Shape;503;g282e807ed40_0_7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282e807ed40_0_85: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11" name="Google Shape;511;g282e807ed40_0_85: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82e807ed40_0_10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19" name="Google Shape;519;g282e807ed40_0_10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282e807ed40_0_118: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27" name="Google Shape;527;g282e807ed40_0_118: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82e807ed40_0_126: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36" name="Google Shape;536;g282e807ed40_0_126: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282e807ed40_0_190: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44" name="Google Shape;544;g282e807ed40_0_190: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82e807ed40_0_134: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52" name="Google Shape;552;g282e807ed40_0_134: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282e807ed40_0_142: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61" name="Google Shape;561;g282e807ed40_0_14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282e807ed40_0_20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69" name="Google Shape;569;g282e807ed40_0_20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282e807ed40_0_200: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77" name="Google Shape;577;g282e807ed40_0_200: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282e807ed40_0_152: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85" name="Google Shape;585;g282e807ed40_0_15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282e807ed40_0_163: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94" name="Google Shape;594;g282e807ed40_0_16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282e807ed40_0_173: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02" name="Google Shape;602;g282e807ed40_0_17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282e807ed40_0_182: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10" name="Google Shape;610;g282e807ed40_0_18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7d2bce3ac4_1_158: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19" name="Google Shape;619;g27d2bce3ac4_1_158: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282e807ed40_0_221: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28" name="Google Shape;628;g282e807ed40_0_22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282e807ed40_0_22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37" name="Google Shape;637;g282e807ed40_0_22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282e807ed40_0_23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46" name="Google Shape;646;g282e807ed40_0_23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26ddd9e2278_0_413: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55" name="Google Shape;655;g26ddd9e2278_0_41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3"/>
        <p:cNvGrpSpPr/>
        <p:nvPr/>
      </p:nvGrpSpPr>
      <p:grpSpPr>
        <a:xfrm>
          <a:off x="0" y="0"/>
          <a:ext cx="0" cy="0"/>
          <a:chOff x="0" y="0"/>
          <a:chExt cx="0" cy="0"/>
        </a:xfrm>
      </p:grpSpPr>
      <p:sp>
        <p:nvSpPr>
          <p:cNvPr id="264" name="Google Shape;264;p18"/>
          <p:cNvSpPr txBox="1">
            <a:spLocks noGrp="1"/>
          </p:cNvSpPr>
          <p:nvPr>
            <p:ph type="title"/>
          </p:nvPr>
        </p:nvSpPr>
        <p:spPr>
          <a:xfrm>
            <a:off x="628650" y="274638"/>
            <a:ext cx="7886700" cy="993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18"/>
          <p:cNvSpPr txBox="1">
            <a:spLocks noGrp="1"/>
          </p:cNvSpPr>
          <p:nvPr>
            <p:ph type="body" idx="1"/>
          </p:nvPr>
        </p:nvSpPr>
        <p:spPr>
          <a:xfrm>
            <a:off x="628650" y="1370013"/>
            <a:ext cx="7886700" cy="3262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6" name="Google Shape;266;p18"/>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7" name="Google Shape;267;p18"/>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8" name="Google Shape;268;p18"/>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9"/>
        <p:cNvGrpSpPr/>
        <p:nvPr/>
      </p:nvGrpSpPr>
      <p:grpSpPr>
        <a:xfrm>
          <a:off x="0" y="0"/>
          <a:ext cx="0" cy="0"/>
          <a:chOff x="0" y="0"/>
          <a:chExt cx="0" cy="0"/>
        </a:xfrm>
      </p:grpSpPr>
      <p:sp>
        <p:nvSpPr>
          <p:cNvPr id="270" name="Google Shape;270;p45"/>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1" name="Google Shape;271;p45"/>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2" name="Google Shape;272;p45"/>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Plus Text Bullets">
  <p:cSld name="Title Plus Text Bullets">
    <p:spTree>
      <p:nvGrpSpPr>
        <p:cNvPr id="1" name="Shape 273"/>
        <p:cNvGrpSpPr/>
        <p:nvPr/>
      </p:nvGrpSpPr>
      <p:grpSpPr>
        <a:xfrm>
          <a:off x="0" y="0"/>
          <a:ext cx="0" cy="0"/>
          <a:chOff x="0" y="0"/>
          <a:chExt cx="0" cy="0"/>
        </a:xfrm>
      </p:grpSpPr>
      <p:sp>
        <p:nvSpPr>
          <p:cNvPr id="274" name="Google Shape;274;p46"/>
          <p:cNvSpPr txBox="1">
            <a:spLocks noGrp="1"/>
          </p:cNvSpPr>
          <p:nvPr>
            <p:ph type="title"/>
          </p:nvPr>
        </p:nvSpPr>
        <p:spPr>
          <a:xfrm>
            <a:off x="0" y="0"/>
            <a:ext cx="4396800" cy="640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5" name="Google Shape;275;p46"/>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6" name="Google Shape;276;p46"/>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46"/>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78" name="Google Shape;278;p46"/>
          <p:cNvSpPr txBox="1">
            <a:spLocks noGrp="1"/>
          </p:cNvSpPr>
          <p:nvPr>
            <p:ph type="body" idx="1"/>
          </p:nvPr>
        </p:nvSpPr>
        <p:spPr>
          <a:xfrm>
            <a:off x="628650" y="1370013"/>
            <a:ext cx="7886700" cy="3262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9"/>
        <p:cNvGrpSpPr/>
        <p:nvPr/>
      </p:nvGrpSpPr>
      <p:grpSpPr>
        <a:xfrm>
          <a:off x="0" y="0"/>
          <a:ext cx="0" cy="0"/>
          <a:chOff x="0" y="0"/>
          <a:chExt cx="0" cy="0"/>
        </a:xfrm>
      </p:grpSpPr>
      <p:sp>
        <p:nvSpPr>
          <p:cNvPr id="280" name="Google Shape;280;p47"/>
          <p:cNvSpPr txBox="1">
            <a:spLocks noGrp="1"/>
          </p:cNvSpPr>
          <p:nvPr>
            <p:ph type="ctrTitle"/>
          </p:nvPr>
        </p:nvSpPr>
        <p:spPr>
          <a:xfrm>
            <a:off x="1143000" y="841375"/>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1" name="Google Shape;281;p47"/>
          <p:cNvSpPr txBox="1">
            <a:spLocks noGrp="1"/>
          </p:cNvSpPr>
          <p:nvPr>
            <p:ph type="subTitle" idx="1"/>
          </p:nvPr>
        </p:nvSpPr>
        <p:spPr>
          <a:xfrm>
            <a:off x="1143000" y="2701925"/>
            <a:ext cx="6858000" cy="12414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2" name="Google Shape;282;p47"/>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3" name="Google Shape;283;p47"/>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4" name="Google Shape;284;p47"/>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5"/>
        <p:cNvGrpSpPr/>
        <p:nvPr/>
      </p:nvGrpSpPr>
      <p:grpSpPr>
        <a:xfrm>
          <a:off x="0" y="0"/>
          <a:ext cx="0" cy="0"/>
          <a:chOff x="0" y="0"/>
          <a:chExt cx="0" cy="0"/>
        </a:xfrm>
      </p:grpSpPr>
      <p:sp>
        <p:nvSpPr>
          <p:cNvPr id="286" name="Google Shape;286;p48"/>
          <p:cNvSpPr txBox="1">
            <a:spLocks noGrp="1"/>
          </p:cNvSpPr>
          <p:nvPr>
            <p:ph type="title"/>
          </p:nvPr>
        </p:nvSpPr>
        <p:spPr>
          <a:xfrm>
            <a:off x="623888" y="1282700"/>
            <a:ext cx="7886700" cy="21399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7" name="Google Shape;287;p48"/>
          <p:cNvSpPr txBox="1">
            <a:spLocks noGrp="1"/>
          </p:cNvSpPr>
          <p:nvPr>
            <p:ph type="body" idx="1"/>
          </p:nvPr>
        </p:nvSpPr>
        <p:spPr>
          <a:xfrm>
            <a:off x="623888" y="3441700"/>
            <a:ext cx="7886700" cy="1125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8" name="Google Shape;288;p48"/>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9" name="Google Shape;289;p48"/>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48"/>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91"/>
        <p:cNvGrpSpPr/>
        <p:nvPr/>
      </p:nvGrpSpPr>
      <p:grpSpPr>
        <a:xfrm>
          <a:off x="0" y="0"/>
          <a:ext cx="0" cy="0"/>
          <a:chOff x="0" y="0"/>
          <a:chExt cx="0" cy="0"/>
        </a:xfrm>
      </p:grpSpPr>
      <p:sp>
        <p:nvSpPr>
          <p:cNvPr id="292" name="Google Shape;292;p49"/>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3" name="Google Shape;293;p49"/>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4" name="Google Shape;294;p49"/>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Plus Text Bullets">
  <p:cSld name="1_Title Plus Text Bullets">
    <p:spTree>
      <p:nvGrpSpPr>
        <p:cNvPr id="1" name="Shape 295"/>
        <p:cNvGrpSpPr/>
        <p:nvPr/>
      </p:nvGrpSpPr>
      <p:grpSpPr>
        <a:xfrm>
          <a:off x="0" y="0"/>
          <a:ext cx="0" cy="0"/>
          <a:chOff x="0" y="0"/>
          <a:chExt cx="0" cy="0"/>
        </a:xfrm>
      </p:grpSpPr>
      <p:sp>
        <p:nvSpPr>
          <p:cNvPr id="296" name="Google Shape;296;p50"/>
          <p:cNvSpPr txBox="1">
            <a:spLocks noGrp="1"/>
          </p:cNvSpPr>
          <p:nvPr>
            <p:ph type="title"/>
          </p:nvPr>
        </p:nvSpPr>
        <p:spPr>
          <a:xfrm>
            <a:off x="0" y="0"/>
            <a:ext cx="4396800" cy="640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7" name="Google Shape;297;p50"/>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8" name="Google Shape;298;p50"/>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9" name="Google Shape;299;p50"/>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00" name="Google Shape;300;p50"/>
          <p:cNvSpPr txBox="1">
            <a:spLocks noGrp="1"/>
          </p:cNvSpPr>
          <p:nvPr>
            <p:ph type="body" idx="1"/>
          </p:nvPr>
        </p:nvSpPr>
        <p:spPr>
          <a:xfrm>
            <a:off x="628650" y="1370013"/>
            <a:ext cx="7886700" cy="3262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1" name="Google Shape;301;p50"/>
          <p:cNvSpPr/>
          <p:nvPr/>
        </p:nvSpPr>
        <p:spPr>
          <a:xfrm>
            <a:off x="0" y="649042"/>
            <a:ext cx="9144000" cy="363900"/>
          </a:xfrm>
          <a:prstGeom prst="rect">
            <a:avLst/>
          </a:prstGeom>
          <a:solidFill>
            <a:srgbClr val="E631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2" name="Google Shape;302;p50"/>
          <p:cNvSpPr txBox="1">
            <a:spLocks noGrp="1"/>
          </p:cNvSpPr>
          <p:nvPr>
            <p:ph type="body" idx="2"/>
          </p:nvPr>
        </p:nvSpPr>
        <p:spPr>
          <a:xfrm>
            <a:off x="0" y="683387"/>
            <a:ext cx="4299000" cy="2952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2000"/>
              <a:buNone/>
              <a:defRPr sz="2000">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_editedc">
  <p:cSld name="Comparison_editedc">
    <p:spTree>
      <p:nvGrpSpPr>
        <p:cNvPr id="1" name="Shape 303"/>
        <p:cNvGrpSpPr/>
        <p:nvPr/>
      </p:nvGrpSpPr>
      <p:grpSpPr>
        <a:xfrm>
          <a:off x="0" y="0"/>
          <a:ext cx="0" cy="0"/>
          <a:chOff x="0" y="0"/>
          <a:chExt cx="0" cy="0"/>
        </a:xfrm>
      </p:grpSpPr>
      <p:sp>
        <p:nvSpPr>
          <p:cNvPr id="304" name="Google Shape;304;p51"/>
          <p:cNvSpPr txBox="1">
            <a:spLocks noGrp="1"/>
          </p:cNvSpPr>
          <p:nvPr>
            <p:ph type="title"/>
          </p:nvPr>
        </p:nvSpPr>
        <p:spPr>
          <a:xfrm>
            <a:off x="0" y="0"/>
            <a:ext cx="4396800" cy="640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5" name="Google Shape;305;p51"/>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51"/>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51"/>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08" name="Google Shape;308;p51"/>
          <p:cNvSpPr txBox="1">
            <a:spLocks noGrp="1"/>
          </p:cNvSpPr>
          <p:nvPr>
            <p:ph type="body" idx="1"/>
          </p:nvPr>
        </p:nvSpPr>
        <p:spPr>
          <a:xfrm>
            <a:off x="630238" y="1260475"/>
            <a:ext cx="3868800" cy="6192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9" name="Google Shape;309;p51"/>
          <p:cNvSpPr txBox="1">
            <a:spLocks noGrp="1"/>
          </p:cNvSpPr>
          <p:nvPr>
            <p:ph type="body" idx="2"/>
          </p:nvPr>
        </p:nvSpPr>
        <p:spPr>
          <a:xfrm>
            <a:off x="630238" y="1879600"/>
            <a:ext cx="3868800" cy="2762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0" name="Google Shape;310;p51"/>
          <p:cNvSpPr txBox="1">
            <a:spLocks noGrp="1"/>
          </p:cNvSpPr>
          <p:nvPr>
            <p:ph type="body" idx="3"/>
          </p:nvPr>
        </p:nvSpPr>
        <p:spPr>
          <a:xfrm>
            <a:off x="4629150" y="1260475"/>
            <a:ext cx="3887700" cy="6192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1" name="Google Shape;311;p51"/>
          <p:cNvSpPr txBox="1">
            <a:spLocks noGrp="1"/>
          </p:cNvSpPr>
          <p:nvPr>
            <p:ph type="body" idx="4"/>
          </p:nvPr>
        </p:nvSpPr>
        <p:spPr>
          <a:xfrm>
            <a:off x="4629150" y="1879600"/>
            <a:ext cx="3887700" cy="2762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312"/>
        <p:cNvGrpSpPr/>
        <p:nvPr/>
      </p:nvGrpSpPr>
      <p:grpSpPr>
        <a:xfrm>
          <a:off x="0" y="0"/>
          <a:ext cx="0" cy="0"/>
          <a:chOff x="0" y="0"/>
          <a:chExt cx="0" cy="0"/>
        </a:xfrm>
      </p:grpSpPr>
      <p:sp>
        <p:nvSpPr>
          <p:cNvPr id="313" name="Google Shape;313;p52"/>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4" name="Google Shape;314;p52"/>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5" name="Google Shape;315;p52"/>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16" name="Google Shape;316;p52"/>
          <p:cNvPicPr preferRelativeResize="0"/>
          <p:nvPr/>
        </p:nvPicPr>
        <p:blipFill rotWithShape="1">
          <a:blip r:embed="rId2">
            <a:alphaModFix/>
          </a:blip>
          <a:srcRect/>
          <a:stretch/>
        </p:blipFill>
        <p:spPr>
          <a:xfrm rot="10800000" flipH="1">
            <a:off x="632499" y="2973622"/>
            <a:ext cx="7691175" cy="667936"/>
          </a:xfrm>
          <a:prstGeom prst="rect">
            <a:avLst/>
          </a:prstGeom>
          <a:noFill/>
          <a:ln>
            <a:noFill/>
          </a:ln>
        </p:spPr>
      </p:pic>
      <p:sp>
        <p:nvSpPr>
          <p:cNvPr id="317" name="Google Shape;317;p52"/>
          <p:cNvSpPr txBox="1">
            <a:spLocks noGrp="1"/>
          </p:cNvSpPr>
          <p:nvPr>
            <p:ph type="body" idx="1"/>
          </p:nvPr>
        </p:nvSpPr>
        <p:spPr>
          <a:xfrm>
            <a:off x="991750"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DDDDDD"/>
              </a:buClr>
              <a:buSzPts val="2000"/>
              <a:buFont typeface="Arial"/>
              <a:buNone/>
              <a:defRPr sz="2000" b="1" i="0" u="none" strike="noStrike" cap="none">
                <a:solidFill>
                  <a:srgbClr val="DDDDDD"/>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8" name="Google Shape;318;p52"/>
          <p:cNvSpPr txBox="1">
            <a:spLocks noGrp="1"/>
          </p:cNvSpPr>
          <p:nvPr>
            <p:ph type="body" idx="2"/>
          </p:nvPr>
        </p:nvSpPr>
        <p:spPr>
          <a:xfrm>
            <a:off x="991750"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DDDDDD"/>
              </a:buClr>
              <a:buSzPts val="1100"/>
              <a:buFont typeface="Arial"/>
              <a:buNone/>
              <a:defRPr sz="1100" b="1" i="0" u="none" strike="noStrike" cap="none">
                <a:solidFill>
                  <a:srgbClr val="DDDDDD"/>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9" name="Google Shape;319;p52"/>
          <p:cNvSpPr txBox="1">
            <a:spLocks noGrp="1"/>
          </p:cNvSpPr>
          <p:nvPr>
            <p:ph type="body" idx="3"/>
          </p:nvPr>
        </p:nvSpPr>
        <p:spPr>
          <a:xfrm>
            <a:off x="991750"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0" name="Google Shape;320;p52"/>
          <p:cNvSpPr txBox="1">
            <a:spLocks noGrp="1"/>
          </p:cNvSpPr>
          <p:nvPr>
            <p:ph type="body" idx="4"/>
          </p:nvPr>
        </p:nvSpPr>
        <p:spPr>
          <a:xfrm>
            <a:off x="2440487"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1" name="Google Shape;321;p52"/>
          <p:cNvSpPr txBox="1">
            <a:spLocks noGrp="1"/>
          </p:cNvSpPr>
          <p:nvPr>
            <p:ph type="body" idx="5"/>
          </p:nvPr>
        </p:nvSpPr>
        <p:spPr>
          <a:xfrm>
            <a:off x="2440487"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1100"/>
              <a:buFont typeface="Arial"/>
              <a:buNone/>
              <a:defRPr sz="11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2" name="Google Shape;322;p52"/>
          <p:cNvSpPr txBox="1">
            <a:spLocks noGrp="1"/>
          </p:cNvSpPr>
          <p:nvPr>
            <p:ph type="body" idx="6"/>
          </p:nvPr>
        </p:nvSpPr>
        <p:spPr>
          <a:xfrm>
            <a:off x="2440487"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3" name="Google Shape;323;p52"/>
          <p:cNvSpPr txBox="1">
            <a:spLocks noGrp="1"/>
          </p:cNvSpPr>
          <p:nvPr>
            <p:ph type="body" idx="7"/>
          </p:nvPr>
        </p:nvSpPr>
        <p:spPr>
          <a:xfrm>
            <a:off x="3892297"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2000"/>
              <a:buFont typeface="Arial"/>
              <a:buNone/>
              <a:defRPr sz="2000" b="1"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4" name="Google Shape;324;p52"/>
          <p:cNvSpPr txBox="1">
            <a:spLocks noGrp="1"/>
          </p:cNvSpPr>
          <p:nvPr>
            <p:ph type="body" idx="8"/>
          </p:nvPr>
        </p:nvSpPr>
        <p:spPr>
          <a:xfrm>
            <a:off x="3892297"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100"/>
              <a:buFont typeface="Arial"/>
              <a:buNone/>
              <a:defRPr sz="1100" b="1"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5" name="Google Shape;325;p52"/>
          <p:cNvSpPr txBox="1">
            <a:spLocks noGrp="1"/>
          </p:cNvSpPr>
          <p:nvPr>
            <p:ph type="body" idx="9"/>
          </p:nvPr>
        </p:nvSpPr>
        <p:spPr>
          <a:xfrm>
            <a:off x="3892297"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6" name="Google Shape;326;p52"/>
          <p:cNvSpPr txBox="1">
            <a:spLocks noGrp="1"/>
          </p:cNvSpPr>
          <p:nvPr>
            <p:ph type="body" idx="13"/>
          </p:nvPr>
        </p:nvSpPr>
        <p:spPr>
          <a:xfrm>
            <a:off x="5326899"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CCCCCC"/>
              </a:buClr>
              <a:buSzPts val="2000"/>
              <a:buFont typeface="Arial"/>
              <a:buNone/>
              <a:defRPr sz="2000" b="1" i="0" u="none" strike="noStrike" cap="none">
                <a:solidFill>
                  <a:srgbClr val="CCCCCC"/>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7" name="Google Shape;327;p52"/>
          <p:cNvSpPr txBox="1">
            <a:spLocks noGrp="1"/>
          </p:cNvSpPr>
          <p:nvPr>
            <p:ph type="body" idx="14"/>
          </p:nvPr>
        </p:nvSpPr>
        <p:spPr>
          <a:xfrm>
            <a:off x="5326899"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CCCCCC"/>
              </a:buClr>
              <a:buSzPts val="1100"/>
              <a:buFont typeface="Arial"/>
              <a:buNone/>
              <a:defRPr sz="1100" b="1" i="0" u="none" strike="noStrike" cap="none">
                <a:solidFill>
                  <a:srgbClr val="CCCCCC"/>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8" name="Google Shape;328;p52"/>
          <p:cNvSpPr txBox="1">
            <a:spLocks noGrp="1"/>
          </p:cNvSpPr>
          <p:nvPr>
            <p:ph type="body" idx="15"/>
          </p:nvPr>
        </p:nvSpPr>
        <p:spPr>
          <a:xfrm>
            <a:off x="5326899"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9" name="Google Shape;329;p52"/>
          <p:cNvSpPr txBox="1">
            <a:spLocks noGrp="1"/>
          </p:cNvSpPr>
          <p:nvPr>
            <p:ph type="body" idx="16"/>
          </p:nvPr>
        </p:nvSpPr>
        <p:spPr>
          <a:xfrm>
            <a:off x="6735161"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0" name="Google Shape;330;p52"/>
          <p:cNvSpPr txBox="1">
            <a:spLocks noGrp="1"/>
          </p:cNvSpPr>
          <p:nvPr>
            <p:ph type="body" idx="17"/>
          </p:nvPr>
        </p:nvSpPr>
        <p:spPr>
          <a:xfrm>
            <a:off x="6735161"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1100"/>
              <a:buFont typeface="Arial"/>
              <a:buNone/>
              <a:defRPr sz="11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1" name="Google Shape;331;p52"/>
          <p:cNvSpPr txBox="1">
            <a:spLocks noGrp="1"/>
          </p:cNvSpPr>
          <p:nvPr>
            <p:ph type="body" idx="18"/>
          </p:nvPr>
        </p:nvSpPr>
        <p:spPr>
          <a:xfrm>
            <a:off x="6735161"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2" name="Google Shape;332;p52"/>
          <p:cNvSpPr txBox="1">
            <a:spLocks noGrp="1"/>
          </p:cNvSpPr>
          <p:nvPr>
            <p:ph type="body" idx="19"/>
          </p:nvPr>
        </p:nvSpPr>
        <p:spPr>
          <a:xfrm>
            <a:off x="904066" y="3965989"/>
            <a:ext cx="13248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DDDDDD"/>
              </a:buClr>
              <a:buSzPts val="1600"/>
              <a:buFont typeface="Arial"/>
              <a:buNone/>
              <a:defRPr sz="1600" b="1" i="0" u="none" strike="noStrike" cap="none">
                <a:solidFill>
                  <a:srgbClr val="DDDDDD"/>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3" name="Google Shape;333;p52"/>
          <p:cNvSpPr txBox="1">
            <a:spLocks noGrp="1"/>
          </p:cNvSpPr>
          <p:nvPr>
            <p:ph type="body" idx="20"/>
          </p:nvPr>
        </p:nvSpPr>
        <p:spPr>
          <a:xfrm>
            <a:off x="2352802" y="3965989"/>
            <a:ext cx="13530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1600"/>
              <a:buFont typeface="Arial"/>
              <a:buNone/>
              <a:defRPr sz="16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4" name="Google Shape;334;p52"/>
          <p:cNvSpPr txBox="1">
            <a:spLocks noGrp="1"/>
          </p:cNvSpPr>
          <p:nvPr>
            <p:ph type="body" idx="21"/>
          </p:nvPr>
        </p:nvSpPr>
        <p:spPr>
          <a:xfrm>
            <a:off x="3829621" y="3965988"/>
            <a:ext cx="13530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600"/>
              <a:buFont typeface="Arial"/>
              <a:buNone/>
              <a:defRPr sz="1600" b="1"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5" name="Google Shape;335;p52"/>
          <p:cNvSpPr txBox="1">
            <a:spLocks noGrp="1"/>
          </p:cNvSpPr>
          <p:nvPr>
            <p:ph type="body" idx="22"/>
          </p:nvPr>
        </p:nvSpPr>
        <p:spPr>
          <a:xfrm>
            <a:off x="5306440" y="3965988"/>
            <a:ext cx="13248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DDDDDD"/>
              </a:buClr>
              <a:buSzPts val="1600"/>
              <a:buFont typeface="Arial"/>
              <a:buNone/>
              <a:defRPr sz="1600" b="1" i="0" u="none" strike="noStrike" cap="none">
                <a:solidFill>
                  <a:srgbClr val="DDDDDD"/>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6" name="Google Shape;336;p52"/>
          <p:cNvSpPr txBox="1">
            <a:spLocks noGrp="1"/>
          </p:cNvSpPr>
          <p:nvPr>
            <p:ph type="body" idx="23"/>
          </p:nvPr>
        </p:nvSpPr>
        <p:spPr>
          <a:xfrm>
            <a:off x="6755176" y="3965987"/>
            <a:ext cx="13530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1600"/>
              <a:buFont typeface="Arial"/>
              <a:buNone/>
              <a:defRPr sz="16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pic>
        <p:nvPicPr>
          <p:cNvPr id="337" name="Google Shape;337;p52"/>
          <p:cNvPicPr preferRelativeResize="0"/>
          <p:nvPr/>
        </p:nvPicPr>
        <p:blipFill rotWithShape="1">
          <a:blip r:embed="rId2">
            <a:alphaModFix/>
          </a:blip>
          <a:srcRect/>
          <a:stretch/>
        </p:blipFill>
        <p:spPr>
          <a:xfrm rot="10800000" flipH="1">
            <a:off x="632499" y="2973622"/>
            <a:ext cx="7691175" cy="66793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38"/>
        <p:cNvGrpSpPr/>
        <p:nvPr/>
      </p:nvGrpSpPr>
      <p:grpSpPr>
        <a:xfrm>
          <a:off x="0" y="0"/>
          <a:ext cx="0" cy="0"/>
          <a:chOff x="0" y="0"/>
          <a:chExt cx="0" cy="0"/>
        </a:xfrm>
      </p:grpSpPr>
      <p:sp>
        <p:nvSpPr>
          <p:cNvPr id="339" name="Google Shape;339;p53"/>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0" name="Google Shape;340;p53"/>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1" name="Google Shape;341;p53"/>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42" name="Google Shape;342;p53"/>
          <p:cNvPicPr preferRelativeResize="0"/>
          <p:nvPr/>
        </p:nvPicPr>
        <p:blipFill rotWithShape="1">
          <a:blip r:embed="rId2">
            <a:alphaModFix/>
          </a:blip>
          <a:srcRect/>
          <a:stretch/>
        </p:blipFill>
        <p:spPr>
          <a:xfrm>
            <a:off x="417869" y="988850"/>
            <a:ext cx="402337" cy="402337"/>
          </a:xfrm>
          <a:prstGeom prst="rect">
            <a:avLst/>
          </a:prstGeom>
          <a:noFill/>
          <a:ln>
            <a:noFill/>
          </a:ln>
        </p:spPr>
      </p:pic>
      <p:pic>
        <p:nvPicPr>
          <p:cNvPr id="343" name="Google Shape;343;p53"/>
          <p:cNvPicPr preferRelativeResize="0"/>
          <p:nvPr/>
        </p:nvPicPr>
        <p:blipFill rotWithShape="1">
          <a:blip r:embed="rId3">
            <a:alphaModFix/>
          </a:blip>
          <a:srcRect/>
          <a:stretch/>
        </p:blipFill>
        <p:spPr>
          <a:xfrm>
            <a:off x="417869" y="1469040"/>
            <a:ext cx="402337" cy="402337"/>
          </a:xfrm>
          <a:prstGeom prst="rect">
            <a:avLst/>
          </a:prstGeom>
          <a:noFill/>
          <a:ln>
            <a:noFill/>
          </a:ln>
        </p:spPr>
      </p:pic>
      <p:pic>
        <p:nvPicPr>
          <p:cNvPr id="344" name="Google Shape;344;p53"/>
          <p:cNvPicPr preferRelativeResize="0"/>
          <p:nvPr/>
        </p:nvPicPr>
        <p:blipFill rotWithShape="1">
          <a:blip r:embed="rId4">
            <a:alphaModFix/>
          </a:blip>
          <a:srcRect/>
          <a:stretch/>
        </p:blipFill>
        <p:spPr>
          <a:xfrm>
            <a:off x="417869" y="1948824"/>
            <a:ext cx="402337" cy="400051"/>
          </a:xfrm>
          <a:prstGeom prst="rect">
            <a:avLst/>
          </a:prstGeom>
          <a:noFill/>
          <a:ln>
            <a:noFill/>
          </a:ln>
        </p:spPr>
      </p:pic>
      <p:pic>
        <p:nvPicPr>
          <p:cNvPr id="345" name="Google Shape;345;p53"/>
          <p:cNvPicPr preferRelativeResize="0"/>
          <p:nvPr/>
        </p:nvPicPr>
        <p:blipFill rotWithShape="1">
          <a:blip r:embed="rId5">
            <a:alphaModFix/>
          </a:blip>
          <a:srcRect/>
          <a:stretch/>
        </p:blipFill>
        <p:spPr>
          <a:xfrm>
            <a:off x="417869" y="2427167"/>
            <a:ext cx="402337" cy="402337"/>
          </a:xfrm>
          <a:prstGeom prst="rect">
            <a:avLst/>
          </a:prstGeom>
          <a:noFill/>
          <a:ln>
            <a:noFill/>
          </a:ln>
        </p:spPr>
      </p:pic>
      <p:pic>
        <p:nvPicPr>
          <p:cNvPr id="346" name="Google Shape;346;p53"/>
          <p:cNvPicPr preferRelativeResize="0"/>
          <p:nvPr/>
        </p:nvPicPr>
        <p:blipFill rotWithShape="1">
          <a:blip r:embed="rId6">
            <a:alphaModFix/>
          </a:blip>
          <a:srcRect/>
          <a:stretch/>
        </p:blipFill>
        <p:spPr>
          <a:xfrm>
            <a:off x="417868" y="2907797"/>
            <a:ext cx="402337" cy="402337"/>
          </a:xfrm>
          <a:prstGeom prst="rect">
            <a:avLst/>
          </a:prstGeom>
          <a:noFill/>
          <a:ln>
            <a:noFill/>
          </a:ln>
        </p:spPr>
      </p:pic>
      <p:sp>
        <p:nvSpPr>
          <p:cNvPr id="347" name="Google Shape;347;p53"/>
          <p:cNvSpPr txBox="1">
            <a:spLocks noGrp="1"/>
          </p:cNvSpPr>
          <p:nvPr>
            <p:ph type="body" idx="1"/>
          </p:nvPr>
        </p:nvSpPr>
        <p:spPr>
          <a:xfrm>
            <a:off x="878243" y="1572506"/>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48" name="Google Shape;348;p53"/>
          <p:cNvSpPr txBox="1">
            <a:spLocks noGrp="1"/>
          </p:cNvSpPr>
          <p:nvPr>
            <p:ph type="body" idx="2"/>
          </p:nvPr>
        </p:nvSpPr>
        <p:spPr>
          <a:xfrm>
            <a:off x="878243" y="1088140"/>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49" name="Google Shape;349;p53"/>
          <p:cNvSpPr txBox="1">
            <a:spLocks noGrp="1"/>
          </p:cNvSpPr>
          <p:nvPr>
            <p:ph type="body" idx="3"/>
          </p:nvPr>
        </p:nvSpPr>
        <p:spPr>
          <a:xfrm>
            <a:off x="878243" y="2046971"/>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0" name="Google Shape;350;p53"/>
          <p:cNvSpPr txBox="1">
            <a:spLocks noGrp="1"/>
          </p:cNvSpPr>
          <p:nvPr>
            <p:ph type="body" idx="4"/>
          </p:nvPr>
        </p:nvSpPr>
        <p:spPr>
          <a:xfrm>
            <a:off x="878243" y="2528954"/>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1" name="Google Shape;351;p53"/>
          <p:cNvSpPr txBox="1">
            <a:spLocks noGrp="1"/>
          </p:cNvSpPr>
          <p:nvPr>
            <p:ph type="body" idx="5"/>
          </p:nvPr>
        </p:nvSpPr>
        <p:spPr>
          <a:xfrm>
            <a:off x="878243" y="3005394"/>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2" name="Google Shape;352;p53"/>
          <p:cNvSpPr txBox="1">
            <a:spLocks noGrp="1"/>
          </p:cNvSpPr>
          <p:nvPr>
            <p:ph type="body" idx="6"/>
          </p:nvPr>
        </p:nvSpPr>
        <p:spPr>
          <a:xfrm>
            <a:off x="4359486" y="1572507"/>
            <a:ext cx="2413500" cy="2319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3" name="Google Shape;353;p53"/>
          <p:cNvSpPr txBox="1">
            <a:spLocks noGrp="1"/>
          </p:cNvSpPr>
          <p:nvPr>
            <p:ph type="body" idx="7"/>
          </p:nvPr>
        </p:nvSpPr>
        <p:spPr>
          <a:xfrm>
            <a:off x="4359486" y="1088140"/>
            <a:ext cx="2413500" cy="2418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4" name="Google Shape;354;p53"/>
          <p:cNvSpPr txBox="1">
            <a:spLocks noGrp="1"/>
          </p:cNvSpPr>
          <p:nvPr>
            <p:ph type="body" idx="8"/>
          </p:nvPr>
        </p:nvSpPr>
        <p:spPr>
          <a:xfrm>
            <a:off x="4359486" y="2046971"/>
            <a:ext cx="24135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5" name="Google Shape;355;p53"/>
          <p:cNvSpPr txBox="1">
            <a:spLocks noGrp="1"/>
          </p:cNvSpPr>
          <p:nvPr>
            <p:ph type="body" idx="9"/>
          </p:nvPr>
        </p:nvSpPr>
        <p:spPr>
          <a:xfrm>
            <a:off x="4359486" y="2528954"/>
            <a:ext cx="24135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6" name="Google Shape;356;p53"/>
          <p:cNvSpPr txBox="1">
            <a:spLocks noGrp="1"/>
          </p:cNvSpPr>
          <p:nvPr>
            <p:ph type="body" idx="13"/>
          </p:nvPr>
        </p:nvSpPr>
        <p:spPr>
          <a:xfrm>
            <a:off x="4359486" y="3005394"/>
            <a:ext cx="24135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pic>
        <p:nvPicPr>
          <p:cNvPr id="357" name="Google Shape;357;p53"/>
          <p:cNvPicPr preferRelativeResize="0"/>
          <p:nvPr/>
        </p:nvPicPr>
        <p:blipFill rotWithShape="1">
          <a:blip r:embed="rId2">
            <a:alphaModFix/>
          </a:blip>
          <a:srcRect/>
          <a:stretch/>
        </p:blipFill>
        <p:spPr>
          <a:xfrm>
            <a:off x="420427" y="997235"/>
            <a:ext cx="402337" cy="402337"/>
          </a:xfrm>
          <a:prstGeom prst="rect">
            <a:avLst/>
          </a:prstGeom>
          <a:noFill/>
          <a:ln>
            <a:noFill/>
          </a:ln>
        </p:spPr>
      </p:pic>
      <p:pic>
        <p:nvPicPr>
          <p:cNvPr id="358" name="Google Shape;358;p53"/>
          <p:cNvPicPr preferRelativeResize="0"/>
          <p:nvPr/>
        </p:nvPicPr>
        <p:blipFill rotWithShape="1">
          <a:blip r:embed="rId3">
            <a:alphaModFix/>
          </a:blip>
          <a:srcRect/>
          <a:stretch/>
        </p:blipFill>
        <p:spPr>
          <a:xfrm>
            <a:off x="420427" y="1477425"/>
            <a:ext cx="402337" cy="402337"/>
          </a:xfrm>
          <a:prstGeom prst="rect">
            <a:avLst/>
          </a:prstGeom>
          <a:noFill/>
          <a:ln>
            <a:noFill/>
          </a:ln>
        </p:spPr>
      </p:pic>
      <p:pic>
        <p:nvPicPr>
          <p:cNvPr id="359" name="Google Shape;359;p53"/>
          <p:cNvPicPr preferRelativeResize="0"/>
          <p:nvPr/>
        </p:nvPicPr>
        <p:blipFill rotWithShape="1">
          <a:blip r:embed="rId4">
            <a:alphaModFix/>
          </a:blip>
          <a:srcRect/>
          <a:stretch/>
        </p:blipFill>
        <p:spPr>
          <a:xfrm>
            <a:off x="420427" y="1957209"/>
            <a:ext cx="402337" cy="400051"/>
          </a:xfrm>
          <a:prstGeom prst="rect">
            <a:avLst/>
          </a:prstGeom>
          <a:noFill/>
          <a:ln>
            <a:noFill/>
          </a:ln>
        </p:spPr>
      </p:pic>
      <p:pic>
        <p:nvPicPr>
          <p:cNvPr id="360" name="Google Shape;360;p53"/>
          <p:cNvPicPr preferRelativeResize="0"/>
          <p:nvPr/>
        </p:nvPicPr>
        <p:blipFill rotWithShape="1">
          <a:blip r:embed="rId5">
            <a:alphaModFix/>
          </a:blip>
          <a:srcRect/>
          <a:stretch/>
        </p:blipFill>
        <p:spPr>
          <a:xfrm>
            <a:off x="420427" y="2435552"/>
            <a:ext cx="402337" cy="402337"/>
          </a:xfrm>
          <a:prstGeom prst="rect">
            <a:avLst/>
          </a:prstGeom>
          <a:noFill/>
          <a:ln>
            <a:noFill/>
          </a:ln>
        </p:spPr>
      </p:pic>
      <p:pic>
        <p:nvPicPr>
          <p:cNvPr id="361" name="Google Shape;361;p53"/>
          <p:cNvPicPr preferRelativeResize="0"/>
          <p:nvPr/>
        </p:nvPicPr>
        <p:blipFill rotWithShape="1">
          <a:blip r:embed="rId6">
            <a:alphaModFix/>
          </a:blip>
          <a:srcRect/>
          <a:stretch/>
        </p:blipFill>
        <p:spPr>
          <a:xfrm>
            <a:off x="420426" y="2916182"/>
            <a:ext cx="402337" cy="402337"/>
          </a:xfrm>
          <a:prstGeom prst="rect">
            <a:avLst/>
          </a:prstGeom>
          <a:noFill/>
          <a:ln>
            <a:noFill/>
          </a:ln>
        </p:spPr>
      </p:pic>
      <p:pic>
        <p:nvPicPr>
          <p:cNvPr id="362" name="Google Shape;362;p53"/>
          <p:cNvPicPr preferRelativeResize="0"/>
          <p:nvPr/>
        </p:nvPicPr>
        <p:blipFill rotWithShape="1">
          <a:blip r:embed="rId7">
            <a:alphaModFix/>
          </a:blip>
          <a:srcRect/>
          <a:stretch/>
        </p:blipFill>
        <p:spPr>
          <a:xfrm>
            <a:off x="3874155" y="997235"/>
            <a:ext cx="402337" cy="402337"/>
          </a:xfrm>
          <a:prstGeom prst="rect">
            <a:avLst/>
          </a:prstGeom>
          <a:noFill/>
          <a:ln>
            <a:noFill/>
          </a:ln>
        </p:spPr>
      </p:pic>
      <p:pic>
        <p:nvPicPr>
          <p:cNvPr id="363" name="Google Shape;363;p53"/>
          <p:cNvPicPr preferRelativeResize="0"/>
          <p:nvPr/>
        </p:nvPicPr>
        <p:blipFill rotWithShape="1">
          <a:blip r:embed="rId8">
            <a:alphaModFix/>
          </a:blip>
          <a:srcRect/>
          <a:stretch/>
        </p:blipFill>
        <p:spPr>
          <a:xfrm>
            <a:off x="3874154" y="1477425"/>
            <a:ext cx="402337" cy="402337"/>
          </a:xfrm>
          <a:prstGeom prst="rect">
            <a:avLst/>
          </a:prstGeom>
          <a:noFill/>
          <a:ln>
            <a:noFill/>
          </a:ln>
        </p:spPr>
      </p:pic>
      <p:pic>
        <p:nvPicPr>
          <p:cNvPr id="364" name="Google Shape;364;p53"/>
          <p:cNvPicPr preferRelativeResize="0"/>
          <p:nvPr/>
        </p:nvPicPr>
        <p:blipFill rotWithShape="1">
          <a:blip r:embed="rId9">
            <a:alphaModFix/>
          </a:blip>
          <a:srcRect/>
          <a:stretch/>
        </p:blipFill>
        <p:spPr>
          <a:xfrm>
            <a:off x="3874153" y="1957209"/>
            <a:ext cx="402337" cy="400051"/>
          </a:xfrm>
          <a:prstGeom prst="rect">
            <a:avLst/>
          </a:prstGeom>
          <a:noFill/>
          <a:ln>
            <a:noFill/>
          </a:ln>
        </p:spPr>
      </p:pic>
      <p:pic>
        <p:nvPicPr>
          <p:cNvPr id="365" name="Google Shape;365;p53"/>
          <p:cNvPicPr preferRelativeResize="0"/>
          <p:nvPr/>
        </p:nvPicPr>
        <p:blipFill rotWithShape="1">
          <a:blip r:embed="rId10">
            <a:alphaModFix/>
          </a:blip>
          <a:srcRect/>
          <a:stretch/>
        </p:blipFill>
        <p:spPr>
          <a:xfrm>
            <a:off x="3874153" y="2434706"/>
            <a:ext cx="402337" cy="402337"/>
          </a:xfrm>
          <a:prstGeom prst="rect">
            <a:avLst/>
          </a:prstGeom>
          <a:noFill/>
          <a:ln>
            <a:noFill/>
          </a:ln>
        </p:spPr>
      </p:pic>
      <p:pic>
        <p:nvPicPr>
          <p:cNvPr id="366" name="Google Shape;366;p53"/>
          <p:cNvPicPr preferRelativeResize="0"/>
          <p:nvPr/>
        </p:nvPicPr>
        <p:blipFill rotWithShape="1">
          <a:blip r:embed="rId11">
            <a:alphaModFix/>
          </a:blip>
          <a:srcRect/>
          <a:stretch/>
        </p:blipFill>
        <p:spPr>
          <a:xfrm>
            <a:off x="3874153" y="2914489"/>
            <a:ext cx="402337" cy="40233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7"/>
        <p:cNvGrpSpPr/>
        <p:nvPr/>
      </p:nvGrpSpPr>
      <p:grpSpPr>
        <a:xfrm>
          <a:off x="0" y="0"/>
          <a:ext cx="0" cy="0"/>
          <a:chOff x="0" y="0"/>
          <a:chExt cx="0" cy="0"/>
        </a:xfrm>
      </p:grpSpPr>
      <p:sp>
        <p:nvSpPr>
          <p:cNvPr id="368" name="Google Shape;368;p54"/>
          <p:cNvSpPr txBox="1">
            <a:spLocks noGrp="1"/>
          </p:cNvSpPr>
          <p:nvPr>
            <p:ph type="title"/>
          </p:nvPr>
        </p:nvSpPr>
        <p:spPr>
          <a:xfrm>
            <a:off x="630238" y="342900"/>
            <a:ext cx="29496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9" name="Google Shape;369;p54"/>
          <p:cNvSpPr txBox="1">
            <a:spLocks noGrp="1"/>
          </p:cNvSpPr>
          <p:nvPr>
            <p:ph type="body" idx="1"/>
          </p:nvPr>
        </p:nvSpPr>
        <p:spPr>
          <a:xfrm>
            <a:off x="3887788" y="741363"/>
            <a:ext cx="4629300" cy="36543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70" name="Google Shape;370;p54"/>
          <p:cNvSpPr txBox="1">
            <a:spLocks noGrp="1"/>
          </p:cNvSpPr>
          <p:nvPr>
            <p:ph type="body" idx="2"/>
          </p:nvPr>
        </p:nvSpPr>
        <p:spPr>
          <a:xfrm>
            <a:off x="630238" y="1543050"/>
            <a:ext cx="2949600" cy="2859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71" name="Google Shape;371;p54"/>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2" name="Google Shape;372;p54"/>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3" name="Google Shape;373;p54"/>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74"/>
        <p:cNvGrpSpPr/>
        <p:nvPr/>
      </p:nvGrpSpPr>
      <p:grpSpPr>
        <a:xfrm>
          <a:off x="0" y="0"/>
          <a:ext cx="0" cy="0"/>
          <a:chOff x="0" y="0"/>
          <a:chExt cx="0" cy="0"/>
        </a:xfrm>
      </p:grpSpPr>
      <p:sp>
        <p:nvSpPr>
          <p:cNvPr id="375" name="Google Shape;375;p55"/>
          <p:cNvSpPr txBox="1">
            <a:spLocks noGrp="1"/>
          </p:cNvSpPr>
          <p:nvPr>
            <p:ph type="title"/>
          </p:nvPr>
        </p:nvSpPr>
        <p:spPr>
          <a:xfrm>
            <a:off x="630238" y="342900"/>
            <a:ext cx="29496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6" name="Google Shape;376;p55"/>
          <p:cNvSpPr>
            <a:spLocks noGrp="1"/>
          </p:cNvSpPr>
          <p:nvPr>
            <p:ph type="pic" idx="2"/>
          </p:nvPr>
        </p:nvSpPr>
        <p:spPr>
          <a:xfrm>
            <a:off x="3887788" y="741363"/>
            <a:ext cx="4629300" cy="3654300"/>
          </a:xfrm>
          <a:prstGeom prst="rect">
            <a:avLst/>
          </a:prstGeom>
          <a:noFill/>
          <a:ln>
            <a:noFill/>
          </a:ln>
        </p:spPr>
      </p:sp>
      <p:sp>
        <p:nvSpPr>
          <p:cNvPr id="377" name="Google Shape;377;p55"/>
          <p:cNvSpPr txBox="1">
            <a:spLocks noGrp="1"/>
          </p:cNvSpPr>
          <p:nvPr>
            <p:ph type="body" idx="1"/>
          </p:nvPr>
        </p:nvSpPr>
        <p:spPr>
          <a:xfrm>
            <a:off x="630238" y="1543050"/>
            <a:ext cx="2949600" cy="2859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78" name="Google Shape;378;p55"/>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9" name="Google Shape;379;p55"/>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0" name="Google Shape;380;p55"/>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1"/>
        <p:cNvGrpSpPr/>
        <p:nvPr/>
      </p:nvGrpSpPr>
      <p:grpSpPr>
        <a:xfrm>
          <a:off x="0" y="0"/>
          <a:ext cx="0" cy="0"/>
          <a:chOff x="0" y="0"/>
          <a:chExt cx="0" cy="0"/>
        </a:xfrm>
      </p:grpSpPr>
      <p:sp>
        <p:nvSpPr>
          <p:cNvPr id="382" name="Google Shape;382;p56"/>
          <p:cNvSpPr txBox="1">
            <a:spLocks noGrp="1"/>
          </p:cNvSpPr>
          <p:nvPr>
            <p:ph type="title"/>
          </p:nvPr>
        </p:nvSpPr>
        <p:spPr>
          <a:xfrm>
            <a:off x="628650" y="274638"/>
            <a:ext cx="7886700" cy="993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3" name="Google Shape;383;p56"/>
          <p:cNvSpPr txBox="1">
            <a:spLocks noGrp="1"/>
          </p:cNvSpPr>
          <p:nvPr>
            <p:ph type="body" idx="1"/>
          </p:nvPr>
        </p:nvSpPr>
        <p:spPr>
          <a:xfrm rot="5400000">
            <a:off x="2940900" y="-942237"/>
            <a:ext cx="3262200"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4" name="Google Shape;384;p56"/>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5" name="Google Shape;385;p56"/>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6" name="Google Shape;386;p56"/>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87"/>
        <p:cNvGrpSpPr/>
        <p:nvPr/>
      </p:nvGrpSpPr>
      <p:grpSpPr>
        <a:xfrm>
          <a:off x="0" y="0"/>
          <a:ext cx="0" cy="0"/>
          <a:chOff x="0" y="0"/>
          <a:chExt cx="0" cy="0"/>
        </a:xfrm>
      </p:grpSpPr>
      <p:sp>
        <p:nvSpPr>
          <p:cNvPr id="388" name="Google Shape;388;p57"/>
          <p:cNvSpPr txBox="1">
            <a:spLocks noGrp="1"/>
          </p:cNvSpPr>
          <p:nvPr>
            <p:ph type="title"/>
          </p:nvPr>
        </p:nvSpPr>
        <p:spPr>
          <a:xfrm rot="5400000">
            <a:off x="5350650" y="1467738"/>
            <a:ext cx="4357800" cy="19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9" name="Google Shape;389;p57"/>
          <p:cNvSpPr txBox="1">
            <a:spLocks noGrp="1"/>
          </p:cNvSpPr>
          <p:nvPr>
            <p:ph type="body" idx="1"/>
          </p:nvPr>
        </p:nvSpPr>
        <p:spPr>
          <a:xfrm rot="5400000">
            <a:off x="1331025" y="-427812"/>
            <a:ext cx="4357800" cy="5762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0" name="Google Shape;390;p57"/>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1" name="Google Shape;391;p57"/>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2" name="Google Shape;392;p57"/>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3"/>
        <p:cNvGrpSpPr/>
        <p:nvPr/>
      </p:nvGrpSpPr>
      <p:grpSpPr>
        <a:xfrm>
          <a:off x="0" y="0"/>
          <a:ext cx="0" cy="0"/>
          <a:chOff x="0" y="0"/>
          <a:chExt cx="0" cy="0"/>
        </a:xfrm>
      </p:grpSpPr>
      <p:sp>
        <p:nvSpPr>
          <p:cNvPr id="394" name="Google Shape;394;p58"/>
          <p:cNvSpPr txBox="1">
            <a:spLocks noGrp="1"/>
          </p:cNvSpPr>
          <p:nvPr>
            <p:ph type="title"/>
          </p:nvPr>
        </p:nvSpPr>
        <p:spPr>
          <a:xfrm>
            <a:off x="628650" y="274638"/>
            <a:ext cx="7886700" cy="993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5" name="Google Shape;395;p58"/>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6" name="Google Shape;396;p58"/>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7" name="Google Shape;397;p58"/>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p17"/>
          <p:cNvSpPr txBox="1">
            <a:spLocks noGrp="1"/>
          </p:cNvSpPr>
          <p:nvPr>
            <p:ph type="title"/>
          </p:nvPr>
        </p:nvSpPr>
        <p:spPr>
          <a:xfrm>
            <a:off x="628650" y="274638"/>
            <a:ext cx="7886700" cy="993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7" name="Google Shape;257;p17"/>
          <p:cNvSpPr txBox="1">
            <a:spLocks noGrp="1"/>
          </p:cNvSpPr>
          <p:nvPr>
            <p:ph type="body" idx="1"/>
          </p:nvPr>
        </p:nvSpPr>
        <p:spPr>
          <a:xfrm>
            <a:off x="628650" y="1370013"/>
            <a:ext cx="7886700" cy="3262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8" name="Google Shape;258;p17"/>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59" name="Google Shape;259;p17"/>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0" name="Google Shape;260;p17"/>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61" name="Google Shape;261;p17"/>
          <p:cNvSpPr/>
          <p:nvPr/>
        </p:nvSpPr>
        <p:spPr>
          <a:xfrm>
            <a:off x="0" y="0"/>
            <a:ext cx="9144000" cy="636900"/>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5"/>
              <a:buFont typeface="Arial"/>
              <a:buNone/>
            </a:pPr>
            <a:endParaRPr sz="1014" b="0" i="0" u="none" strike="noStrike" cap="none">
              <a:solidFill>
                <a:schemeClr val="lt1"/>
              </a:solidFill>
              <a:latin typeface="Calibri"/>
              <a:ea typeface="Calibri"/>
              <a:cs typeface="Calibri"/>
              <a:sym typeface="Calibri"/>
            </a:endParaRPr>
          </a:p>
        </p:txBody>
      </p:sp>
      <p:pic>
        <p:nvPicPr>
          <p:cNvPr id="262" name="Google Shape;262;p17"/>
          <p:cNvPicPr preferRelativeResize="0"/>
          <p:nvPr/>
        </p:nvPicPr>
        <p:blipFill rotWithShape="1">
          <a:blip r:embed="rId17">
            <a:alphaModFix/>
          </a:blip>
          <a:srcRect/>
          <a:stretch/>
        </p:blipFill>
        <p:spPr>
          <a:xfrm>
            <a:off x="7758218" y="0"/>
            <a:ext cx="1385782" cy="636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26ddd9e2278_0_14"/>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4" name="Google Shape;424;g26ddd9e2278_0_14"/>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Paired RDDs</a:t>
            </a:r>
            <a:endParaRPr sz="2400">
              <a:solidFill>
                <a:srgbClr val="FFFFFF"/>
              </a:solidFill>
            </a:endParaRPr>
          </a:p>
        </p:txBody>
      </p:sp>
      <p:sp>
        <p:nvSpPr>
          <p:cNvPr id="425" name="Google Shape;425;g26ddd9e2278_0_14"/>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000">
                <a:solidFill>
                  <a:schemeClr val="dk1"/>
                </a:solidFill>
                <a:highlight>
                  <a:srgbClr val="FFFFFF"/>
                </a:highlight>
              </a:rPr>
              <a:t>Paired RDD is a distributed collection of data with the key-value pair. It is a subset of Resilient Distributed Dataset So it has all the features of RDD and some new feature for the key-value pair. There are many transformation operations available for Paired RDD. These operations on Paired RDD are very useful to solve many use cases that require sorting, grouping, reducing some value/function.</a:t>
            </a:r>
            <a:endParaRPr sz="2000">
              <a:solidFill>
                <a:schemeClr val="dk1"/>
              </a:solidFill>
              <a:highlight>
                <a:srgbClr val="FFFFFF"/>
              </a:highlight>
            </a:endParaRPr>
          </a:p>
          <a:p>
            <a:pPr marL="0" marR="0" lvl="0" indent="0" algn="l" rtl="0">
              <a:lnSpc>
                <a:spcPct val="115000"/>
              </a:lnSpc>
              <a:spcBef>
                <a:spcPts val="0"/>
              </a:spcBef>
              <a:spcAft>
                <a:spcPts val="0"/>
              </a:spcAft>
              <a:buClr>
                <a:schemeClr val="dk1"/>
              </a:buClr>
              <a:buSzPts val="1100"/>
              <a:buFont typeface="Arial"/>
              <a:buNone/>
            </a:pPr>
            <a:endParaRPr sz="2000">
              <a:solidFill>
                <a:schemeClr val="dk1"/>
              </a:solidFill>
              <a:highlight>
                <a:srgbClr val="FFFFFF"/>
              </a:highlight>
            </a:endParaRPr>
          </a:p>
          <a:p>
            <a:pPr marL="0" marR="0" lvl="0" indent="0" algn="l" rtl="0">
              <a:lnSpc>
                <a:spcPct val="115000"/>
              </a:lnSpc>
              <a:spcBef>
                <a:spcPts val="0"/>
              </a:spcBef>
              <a:spcAft>
                <a:spcPts val="0"/>
              </a:spcAft>
              <a:buClr>
                <a:schemeClr val="dk1"/>
              </a:buClr>
              <a:buSzPts val="1100"/>
              <a:buFont typeface="Arial"/>
              <a:buNone/>
            </a:pPr>
            <a:r>
              <a:rPr lang="en" sz="2000">
                <a:solidFill>
                  <a:schemeClr val="dk1"/>
                </a:solidFill>
                <a:highlight>
                  <a:srgbClr val="FFFFFF"/>
                </a:highlight>
              </a:rPr>
              <a:t>Commonly used operations on paired RDD are: groupByKey() reduceByKey() countByKey() join() etc.</a:t>
            </a:r>
            <a:endParaRPr sz="2000">
              <a:solidFill>
                <a:schemeClr val="dk1"/>
              </a:solidFill>
              <a:highlight>
                <a:srgbClr val="FFFFFF"/>
              </a:highlight>
            </a:endParaRPr>
          </a:p>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5">
                                            <p:txEl>
                                              <p:pRg st="0" end="0"/>
                                            </p:txEl>
                                          </p:spTgt>
                                        </p:tgtEl>
                                        <p:attrNameLst>
                                          <p:attrName>style.visibility</p:attrName>
                                        </p:attrNameLst>
                                      </p:cBhvr>
                                      <p:to>
                                        <p:strVal val="visible"/>
                                      </p:to>
                                    </p:set>
                                    <p:anim calcmode="lin" valueType="num">
                                      <p:cBhvr additive="base">
                                        <p:cTn id="7" dur="300"/>
                                        <p:tgtEl>
                                          <p:spTgt spid="4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25">
                                            <p:txEl>
                                              <p:pRg st="1" end="1"/>
                                            </p:txEl>
                                          </p:spTgt>
                                        </p:tgtEl>
                                        <p:attrNameLst>
                                          <p:attrName>style.visibility</p:attrName>
                                        </p:attrNameLst>
                                      </p:cBhvr>
                                      <p:to>
                                        <p:strVal val="visible"/>
                                      </p:to>
                                    </p:set>
                                    <p:anim calcmode="lin" valueType="num">
                                      <p:cBhvr additive="base">
                                        <p:cTn id="12" dur="300"/>
                                        <p:tgtEl>
                                          <p:spTgt spid="42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25">
                                            <p:txEl>
                                              <p:pRg st="2" end="2"/>
                                            </p:txEl>
                                          </p:spTgt>
                                        </p:tgtEl>
                                        <p:attrNameLst>
                                          <p:attrName>style.visibility</p:attrName>
                                        </p:attrNameLst>
                                      </p:cBhvr>
                                      <p:to>
                                        <p:strVal val="visible"/>
                                      </p:to>
                                    </p:set>
                                    <p:anim calcmode="lin" valueType="num">
                                      <p:cBhvr additive="base">
                                        <p:cTn id="17" dur="300"/>
                                        <p:tgtEl>
                                          <p:spTgt spid="42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25">
                                            <p:txEl>
                                              <p:pRg st="3" end="3"/>
                                            </p:txEl>
                                          </p:spTgt>
                                        </p:tgtEl>
                                        <p:attrNameLst>
                                          <p:attrName>style.visibility</p:attrName>
                                        </p:attrNameLst>
                                      </p:cBhvr>
                                      <p:to>
                                        <p:strVal val="visible"/>
                                      </p:to>
                                    </p:set>
                                    <p:anim calcmode="lin" valueType="num">
                                      <p:cBhvr additive="base">
                                        <p:cTn id="22" dur="300"/>
                                        <p:tgtEl>
                                          <p:spTgt spid="42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g282e807ed40_0_5"/>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32" name="Google Shape;432;g282e807ed40_0_5"/>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Paired RDDs</a:t>
            </a:r>
            <a:endParaRPr sz="2400">
              <a:solidFill>
                <a:srgbClr val="FFFFFF"/>
              </a:solidFill>
            </a:endParaRPr>
          </a:p>
        </p:txBody>
      </p:sp>
      <p:sp>
        <p:nvSpPr>
          <p:cNvPr id="433" name="Google Shape;433;g282e807ed40_0_5"/>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000">
                <a:solidFill>
                  <a:srgbClr val="1F1F1F"/>
                </a:solidFill>
                <a:highlight>
                  <a:srgbClr val="FFFFFF"/>
                </a:highlight>
              </a:rPr>
              <a:t>Paired RDDs are a special type of RDD in Apache Spark that contain key-value pairs. They are also known as key-value RDDs. Paired RDDs are very useful for many data processing tasks, such as:</a:t>
            </a:r>
            <a:endParaRPr sz="2000">
              <a:solidFill>
                <a:srgbClr val="1F1F1F"/>
              </a:solidFill>
              <a:highlight>
                <a:srgbClr val="FFFFFF"/>
              </a:highlight>
            </a:endParaRPr>
          </a:p>
          <a:p>
            <a:pPr marL="457200" lvl="0" indent="-355600" algn="l" rtl="0">
              <a:lnSpc>
                <a:spcPct val="115000"/>
              </a:lnSpc>
              <a:spcBef>
                <a:spcPts val="1800"/>
              </a:spcBef>
              <a:spcAft>
                <a:spcPts val="0"/>
              </a:spcAft>
              <a:buClr>
                <a:srgbClr val="1F1F1F"/>
              </a:buClr>
              <a:buSzPts val="2000"/>
              <a:buChar char="●"/>
            </a:pPr>
            <a:r>
              <a:rPr lang="en" sz="2000">
                <a:solidFill>
                  <a:srgbClr val="1F1F1F"/>
                </a:solidFill>
                <a:highlight>
                  <a:srgbClr val="FFFFFF"/>
                </a:highlight>
              </a:rPr>
              <a:t>Joining two datasets together</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Grouping data by a key</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Aggregating data by a key</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Sorting data by a key</a:t>
            </a:r>
            <a:endParaRPr sz="2000">
              <a:solidFill>
                <a:srgbClr val="1F1F1F"/>
              </a:solidFill>
              <a:highlight>
                <a:srgbClr val="FFFFFF"/>
              </a:highlight>
            </a:endParaRPr>
          </a:p>
          <a:p>
            <a:pPr marL="0" marR="0" lvl="0" indent="0" algn="l" rtl="0">
              <a:lnSpc>
                <a:spcPct val="115000"/>
              </a:lnSpc>
              <a:spcBef>
                <a:spcPts val="1100"/>
              </a:spcBef>
              <a:spcAft>
                <a:spcPts val="0"/>
              </a:spcAft>
              <a:buClr>
                <a:srgbClr val="000000"/>
              </a:buClr>
              <a:buSzPts val="2000"/>
              <a:buFont typeface="Arial"/>
              <a:buNone/>
            </a:pPr>
            <a:endParaRPr sz="2000">
              <a:solidFill>
                <a:schemeClr val="dk1"/>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3">
                                            <p:txEl>
                                              <p:pRg st="0" end="0"/>
                                            </p:txEl>
                                          </p:spTgt>
                                        </p:tgtEl>
                                        <p:attrNameLst>
                                          <p:attrName>style.visibility</p:attrName>
                                        </p:attrNameLst>
                                      </p:cBhvr>
                                      <p:to>
                                        <p:strVal val="visible"/>
                                      </p:to>
                                    </p:set>
                                    <p:anim calcmode="lin" valueType="num">
                                      <p:cBhvr additive="base">
                                        <p:cTn id="7" dur="300"/>
                                        <p:tgtEl>
                                          <p:spTgt spid="43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33">
                                            <p:txEl>
                                              <p:pRg st="1" end="1"/>
                                            </p:txEl>
                                          </p:spTgt>
                                        </p:tgtEl>
                                        <p:attrNameLst>
                                          <p:attrName>style.visibility</p:attrName>
                                        </p:attrNameLst>
                                      </p:cBhvr>
                                      <p:to>
                                        <p:strVal val="visible"/>
                                      </p:to>
                                    </p:set>
                                    <p:anim calcmode="lin" valueType="num">
                                      <p:cBhvr additive="base">
                                        <p:cTn id="12" dur="300"/>
                                        <p:tgtEl>
                                          <p:spTgt spid="43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33">
                                            <p:txEl>
                                              <p:pRg st="2" end="2"/>
                                            </p:txEl>
                                          </p:spTgt>
                                        </p:tgtEl>
                                        <p:attrNameLst>
                                          <p:attrName>style.visibility</p:attrName>
                                        </p:attrNameLst>
                                      </p:cBhvr>
                                      <p:to>
                                        <p:strVal val="visible"/>
                                      </p:to>
                                    </p:set>
                                    <p:anim calcmode="lin" valueType="num">
                                      <p:cBhvr additive="base">
                                        <p:cTn id="17" dur="300"/>
                                        <p:tgtEl>
                                          <p:spTgt spid="43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33">
                                            <p:txEl>
                                              <p:pRg st="3" end="3"/>
                                            </p:txEl>
                                          </p:spTgt>
                                        </p:tgtEl>
                                        <p:attrNameLst>
                                          <p:attrName>style.visibility</p:attrName>
                                        </p:attrNameLst>
                                      </p:cBhvr>
                                      <p:to>
                                        <p:strVal val="visible"/>
                                      </p:to>
                                    </p:set>
                                    <p:anim calcmode="lin" valueType="num">
                                      <p:cBhvr additive="base">
                                        <p:cTn id="22" dur="300"/>
                                        <p:tgtEl>
                                          <p:spTgt spid="43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33">
                                            <p:txEl>
                                              <p:pRg st="4" end="4"/>
                                            </p:txEl>
                                          </p:spTgt>
                                        </p:tgtEl>
                                        <p:attrNameLst>
                                          <p:attrName>style.visibility</p:attrName>
                                        </p:attrNameLst>
                                      </p:cBhvr>
                                      <p:to>
                                        <p:strVal val="visible"/>
                                      </p:to>
                                    </p:set>
                                    <p:anim calcmode="lin" valueType="num">
                                      <p:cBhvr additive="base">
                                        <p:cTn id="27" dur="300"/>
                                        <p:tgtEl>
                                          <p:spTgt spid="43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33">
                                            <p:txEl>
                                              <p:pRg st="5" end="5"/>
                                            </p:txEl>
                                          </p:spTgt>
                                        </p:tgtEl>
                                        <p:attrNameLst>
                                          <p:attrName>style.visibility</p:attrName>
                                        </p:attrNameLst>
                                      </p:cBhvr>
                                      <p:to>
                                        <p:strVal val="visible"/>
                                      </p:to>
                                    </p:set>
                                    <p:anim calcmode="lin" valueType="num">
                                      <p:cBhvr additive="base">
                                        <p:cTn id="32" dur="300"/>
                                        <p:tgtEl>
                                          <p:spTgt spid="43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g282e807ed40_0_40"/>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0" name="Google Shape;440;g282e807ed40_0_40"/>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Paired RDDs</a:t>
            </a:r>
            <a:endParaRPr sz="2400">
              <a:solidFill>
                <a:srgbClr val="FFFFFF"/>
              </a:solidFill>
            </a:endParaRPr>
          </a:p>
        </p:txBody>
      </p:sp>
      <p:sp>
        <p:nvSpPr>
          <p:cNvPr id="441" name="Google Shape;441;g282e807ed40_0_40"/>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highlight>
                <a:srgbClr val="FFFFFF"/>
              </a:highlight>
            </a:endParaRPr>
          </a:p>
        </p:txBody>
      </p:sp>
      <p:pic>
        <p:nvPicPr>
          <p:cNvPr id="443" name="Google Shape;443;g282e807ed40_0_40"/>
          <p:cNvPicPr preferRelativeResize="0"/>
          <p:nvPr/>
        </p:nvPicPr>
        <p:blipFill>
          <a:blip r:embed="rId3">
            <a:alphaModFix/>
          </a:blip>
          <a:stretch>
            <a:fillRect/>
          </a:stretch>
        </p:blipFill>
        <p:spPr>
          <a:xfrm>
            <a:off x="389700" y="793438"/>
            <a:ext cx="7620000" cy="4067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1">
                                            <p:txEl>
                                              <p:pRg st="0" end="0"/>
                                            </p:txEl>
                                          </p:spTgt>
                                        </p:tgtEl>
                                        <p:attrNameLst>
                                          <p:attrName>style.visibility</p:attrName>
                                        </p:attrNameLst>
                                      </p:cBhvr>
                                      <p:to>
                                        <p:strVal val="visible"/>
                                      </p:to>
                                    </p:set>
                                    <p:anim calcmode="lin" valueType="num">
                                      <p:cBhvr additive="base">
                                        <p:cTn id="7" dur="300"/>
                                        <p:tgtEl>
                                          <p:spTgt spid="44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g282e807ed40_0_22"/>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9" name="Google Shape;449;g282e807ed40_0_22"/>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Paired RDDs</a:t>
            </a:r>
            <a:endParaRPr sz="2400">
              <a:solidFill>
                <a:srgbClr val="FFFFFF"/>
              </a:solidFill>
            </a:endParaRPr>
          </a:p>
        </p:txBody>
      </p:sp>
      <p:sp>
        <p:nvSpPr>
          <p:cNvPr id="450" name="Google Shape;450;g282e807ed40_0_22"/>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a:solidFill>
                  <a:schemeClr val="dk1"/>
                </a:solidFill>
                <a:highlight>
                  <a:srgbClr val="FFFFFF"/>
                </a:highlight>
              </a:rPr>
              <a:t>Here is an example regarding creating of paired RDD:</a:t>
            </a:r>
            <a:endParaRPr sz="2000">
              <a:solidFill>
                <a:schemeClr val="dk1"/>
              </a:solidFill>
              <a:highlight>
                <a:srgbClr val="FFFFFF"/>
              </a:highlight>
            </a:endParaRPr>
          </a:p>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highlight>
                <a:srgbClr val="FFFFFF"/>
              </a:highlight>
            </a:endParaRPr>
          </a:p>
          <a:p>
            <a:pPr marL="0" marR="0" lvl="0" indent="0" algn="l" rtl="0">
              <a:lnSpc>
                <a:spcPct val="115000"/>
              </a:lnSpc>
              <a:spcBef>
                <a:spcPts val="0"/>
              </a:spcBef>
              <a:spcAft>
                <a:spcPts val="0"/>
              </a:spcAft>
              <a:buClr>
                <a:srgbClr val="000000"/>
              </a:buClr>
              <a:buSzPts val="2000"/>
              <a:buFont typeface="Arial"/>
              <a:buNone/>
            </a:pPr>
            <a:r>
              <a:rPr lang="en" sz="2000">
                <a:solidFill>
                  <a:srgbClr val="333333"/>
                </a:solidFill>
                <a:highlight>
                  <a:srgbClr val="F5F5F5"/>
                </a:highlight>
                <a:latin typeface="Courier New"/>
                <a:ea typeface="Courier New"/>
                <a:cs typeface="Courier New"/>
                <a:sym typeface="Courier New"/>
              </a:rPr>
              <a:t>val pRDD:[(String),(Int)]=sc.textFile(“path_of_your_file”)</a:t>
            </a:r>
            <a:endParaRPr sz="2000">
              <a:solidFill>
                <a:srgbClr val="333333"/>
              </a:solidFill>
              <a:highlight>
                <a:srgbClr val="F5F5F5"/>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2000"/>
              <a:buFont typeface="Arial"/>
              <a:buNone/>
            </a:pPr>
            <a:r>
              <a:rPr lang="en" sz="2000">
                <a:solidFill>
                  <a:srgbClr val="333333"/>
                </a:solidFill>
                <a:highlight>
                  <a:srgbClr val="F5F5F5"/>
                </a:highlight>
                <a:latin typeface="Courier New"/>
                <a:ea typeface="Courier New"/>
                <a:cs typeface="Courier New"/>
                <a:sym typeface="Courier New"/>
              </a:rPr>
              <a:t>.flatMap(line =&gt; line.split(” “))</a:t>
            </a:r>
            <a:endParaRPr sz="2000">
              <a:solidFill>
                <a:srgbClr val="333333"/>
              </a:solidFill>
              <a:highlight>
                <a:srgbClr val="F5F5F5"/>
              </a:highlight>
              <a:latin typeface="Courier New"/>
              <a:ea typeface="Courier New"/>
              <a:cs typeface="Courier New"/>
              <a:sym typeface="Courier New"/>
            </a:endParaRPr>
          </a:p>
          <a:p>
            <a:pPr marL="88900" marR="88900" lvl="0" indent="0" algn="l" rtl="0">
              <a:lnSpc>
                <a:spcPct val="142857"/>
              </a:lnSpc>
              <a:spcBef>
                <a:spcPts val="0"/>
              </a:spcBef>
              <a:spcAft>
                <a:spcPts val="0"/>
              </a:spcAft>
              <a:buClr>
                <a:schemeClr val="dk1"/>
              </a:buClr>
              <a:buSzPts val="1100"/>
              <a:buFont typeface="Arial"/>
              <a:buNone/>
            </a:pPr>
            <a:r>
              <a:rPr lang="en" sz="2000">
                <a:solidFill>
                  <a:srgbClr val="333333"/>
                </a:solidFill>
                <a:highlight>
                  <a:srgbClr val="F5F5F5"/>
                </a:highlight>
                <a:latin typeface="Courier New"/>
                <a:ea typeface="Courier New"/>
                <a:cs typeface="Courier New"/>
                <a:sym typeface="Courier New"/>
              </a:rPr>
              <a:t>.map{word=&gt;(word,word.length)}</a:t>
            </a:r>
            <a:endParaRPr sz="2000">
              <a:solidFill>
                <a:srgbClr val="333333"/>
              </a:solidFill>
              <a:highlight>
                <a:srgbClr val="F5F5F5"/>
              </a:highlight>
              <a:latin typeface="Courier New"/>
              <a:ea typeface="Courier New"/>
              <a:cs typeface="Courier New"/>
              <a:sym typeface="Courier New"/>
            </a:endParaRPr>
          </a:p>
          <a:p>
            <a:pPr marL="0" marR="0" lvl="0" indent="0" algn="l" rtl="0">
              <a:lnSpc>
                <a:spcPct val="115000"/>
              </a:lnSpc>
              <a:spcBef>
                <a:spcPts val="800"/>
              </a:spcBef>
              <a:spcAft>
                <a:spcPts val="0"/>
              </a:spcAft>
              <a:buClr>
                <a:srgbClr val="000000"/>
              </a:buClr>
              <a:buSzPts val="2000"/>
              <a:buFont typeface="Arial"/>
              <a:buNone/>
            </a:pPr>
            <a:endParaRPr sz="2000">
              <a:solidFill>
                <a:schemeClr val="dk1"/>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
                                            <p:txEl>
                                              <p:pRg st="0" end="0"/>
                                            </p:txEl>
                                          </p:spTgt>
                                        </p:tgtEl>
                                        <p:attrNameLst>
                                          <p:attrName>style.visibility</p:attrName>
                                        </p:attrNameLst>
                                      </p:cBhvr>
                                      <p:to>
                                        <p:strVal val="visible"/>
                                      </p:to>
                                    </p:set>
                                    <p:anim calcmode="lin" valueType="num">
                                      <p:cBhvr additive="base">
                                        <p:cTn id="7" dur="300"/>
                                        <p:tgtEl>
                                          <p:spTgt spid="45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50">
                                            <p:txEl>
                                              <p:pRg st="1" end="1"/>
                                            </p:txEl>
                                          </p:spTgt>
                                        </p:tgtEl>
                                        <p:attrNameLst>
                                          <p:attrName>style.visibility</p:attrName>
                                        </p:attrNameLst>
                                      </p:cBhvr>
                                      <p:to>
                                        <p:strVal val="visible"/>
                                      </p:to>
                                    </p:set>
                                    <p:anim calcmode="lin" valueType="num">
                                      <p:cBhvr additive="base">
                                        <p:cTn id="12" dur="300"/>
                                        <p:tgtEl>
                                          <p:spTgt spid="45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50">
                                            <p:txEl>
                                              <p:pRg st="2" end="2"/>
                                            </p:txEl>
                                          </p:spTgt>
                                        </p:tgtEl>
                                        <p:attrNameLst>
                                          <p:attrName>style.visibility</p:attrName>
                                        </p:attrNameLst>
                                      </p:cBhvr>
                                      <p:to>
                                        <p:strVal val="visible"/>
                                      </p:to>
                                    </p:set>
                                    <p:anim calcmode="lin" valueType="num">
                                      <p:cBhvr additive="base">
                                        <p:cTn id="17" dur="300"/>
                                        <p:tgtEl>
                                          <p:spTgt spid="45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50">
                                            <p:txEl>
                                              <p:pRg st="3" end="3"/>
                                            </p:txEl>
                                          </p:spTgt>
                                        </p:tgtEl>
                                        <p:attrNameLst>
                                          <p:attrName>style.visibility</p:attrName>
                                        </p:attrNameLst>
                                      </p:cBhvr>
                                      <p:to>
                                        <p:strVal val="visible"/>
                                      </p:to>
                                    </p:set>
                                    <p:anim calcmode="lin" valueType="num">
                                      <p:cBhvr additive="base">
                                        <p:cTn id="22" dur="300"/>
                                        <p:tgtEl>
                                          <p:spTgt spid="45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50">
                                            <p:txEl>
                                              <p:pRg st="4" end="4"/>
                                            </p:txEl>
                                          </p:spTgt>
                                        </p:tgtEl>
                                        <p:attrNameLst>
                                          <p:attrName>style.visibility</p:attrName>
                                        </p:attrNameLst>
                                      </p:cBhvr>
                                      <p:to>
                                        <p:strVal val="visible"/>
                                      </p:to>
                                    </p:set>
                                    <p:anim calcmode="lin" valueType="num">
                                      <p:cBhvr additive="base">
                                        <p:cTn id="27" dur="300"/>
                                        <p:tgtEl>
                                          <p:spTgt spid="45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50">
                                            <p:txEl>
                                              <p:pRg st="5" end="5"/>
                                            </p:txEl>
                                          </p:spTgt>
                                        </p:tgtEl>
                                        <p:attrNameLst>
                                          <p:attrName>style.visibility</p:attrName>
                                        </p:attrNameLst>
                                      </p:cBhvr>
                                      <p:to>
                                        <p:strVal val="visible"/>
                                      </p:to>
                                    </p:set>
                                    <p:anim calcmode="lin" valueType="num">
                                      <p:cBhvr additive="base">
                                        <p:cTn id="32" dur="300"/>
                                        <p:tgtEl>
                                          <p:spTgt spid="45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g282e807ed40_0_15"/>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7" name="Google Shape;457;g282e807ed40_0_15"/>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Paired RDDs</a:t>
            </a:r>
            <a:endParaRPr sz="2400">
              <a:solidFill>
                <a:srgbClr val="FFFFFF"/>
              </a:solidFill>
            </a:endParaRPr>
          </a:p>
        </p:txBody>
      </p:sp>
      <p:sp>
        <p:nvSpPr>
          <p:cNvPr id="458" name="Google Shape;458;g282e807ed40_0_15"/>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1800"/>
              </a:spcAft>
              <a:buClr>
                <a:schemeClr val="dk1"/>
              </a:buClr>
              <a:buSzPts val="1100"/>
              <a:buFont typeface="Arial"/>
              <a:buNone/>
            </a:pPr>
            <a:r>
              <a:rPr lang="en" sz="2000">
                <a:solidFill>
                  <a:srgbClr val="1F1F1F"/>
                </a:solidFill>
                <a:highlight>
                  <a:srgbClr val="FFFFFF"/>
                </a:highlight>
              </a:rPr>
              <a:t>To create a paired RDD, you can use the map() transformation to map each element of an existing RDD to a key-value pair. For example, the following code creates a paired RDD from a text file, where the key is the word and the value is the number of times the word appears in the file:</a:t>
            </a: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8">
                                            <p:txEl>
                                              <p:pRg st="0" end="0"/>
                                            </p:txEl>
                                          </p:spTgt>
                                        </p:tgtEl>
                                        <p:attrNameLst>
                                          <p:attrName>style.visibility</p:attrName>
                                        </p:attrNameLst>
                                      </p:cBhvr>
                                      <p:to>
                                        <p:strVal val="visible"/>
                                      </p:to>
                                    </p:set>
                                    <p:anim calcmode="lin" valueType="num">
                                      <p:cBhvr additive="base">
                                        <p:cTn id="7" dur="300"/>
                                        <p:tgtEl>
                                          <p:spTgt spid="45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g282e807ed40_0_32"/>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65" name="Google Shape;465;g282e807ed40_0_32"/>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Paired RDDs</a:t>
            </a:r>
            <a:endParaRPr sz="2400">
              <a:solidFill>
                <a:srgbClr val="FFFFFF"/>
              </a:solidFill>
            </a:endParaRPr>
          </a:p>
        </p:txBody>
      </p:sp>
      <p:sp>
        <p:nvSpPr>
          <p:cNvPr id="466" name="Google Shape;466;g282e807ed40_0_32"/>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latin typeface="Courier New"/>
                <a:ea typeface="Courier New"/>
                <a:cs typeface="Courier New"/>
                <a:sym typeface="Courier New"/>
              </a:rPr>
              <a:t>import re</a:t>
            </a:r>
            <a:endParaRPr sz="2000">
              <a:solidFill>
                <a:srgbClr val="1F1F1F"/>
              </a:solidFill>
              <a:highlight>
                <a:srgbClr val="FFFFFF"/>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latin typeface="Courier New"/>
                <a:ea typeface="Courier New"/>
                <a:cs typeface="Courier New"/>
                <a:sym typeface="Courier New"/>
              </a:rPr>
              <a:t>sc = SparkContext()</a:t>
            </a:r>
            <a:endParaRPr sz="2000">
              <a:solidFill>
                <a:srgbClr val="1F1F1F"/>
              </a:solidFill>
              <a:highlight>
                <a:srgbClr val="FFFFFF"/>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latin typeface="Courier New"/>
                <a:ea typeface="Courier New"/>
                <a:cs typeface="Courier New"/>
                <a:sym typeface="Courier New"/>
              </a:rPr>
              <a:t>text_file = sc.textFile("myfile.txt")</a:t>
            </a:r>
            <a:endParaRPr sz="2000">
              <a:solidFill>
                <a:srgbClr val="1F1F1F"/>
              </a:solidFill>
              <a:highlight>
                <a:srgbClr val="FFFFFF"/>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latin typeface="Courier New"/>
                <a:ea typeface="Courier New"/>
                <a:cs typeface="Courier New"/>
                <a:sym typeface="Courier New"/>
              </a:rPr>
              <a:t>words = text_file.flatMap(lambda line: re.split(r"\W+", line))</a:t>
            </a:r>
            <a:endParaRPr sz="2000">
              <a:solidFill>
                <a:srgbClr val="1F1F1F"/>
              </a:solidFill>
              <a:highlight>
                <a:srgbClr val="FFFFFF"/>
              </a:highlight>
              <a:latin typeface="Courier New"/>
              <a:ea typeface="Courier New"/>
              <a:cs typeface="Courier New"/>
              <a:sym typeface="Courier New"/>
            </a:endParaRPr>
          </a:p>
          <a:p>
            <a:pPr marL="152400" marR="15240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latin typeface="Courier New"/>
                <a:ea typeface="Courier New"/>
                <a:cs typeface="Courier New"/>
                <a:sym typeface="Courier New"/>
              </a:rPr>
              <a:t>word_counts = words.map(lambda word: (word, 1))</a:t>
            </a:r>
            <a:endParaRPr sz="2000">
              <a:solidFill>
                <a:srgbClr val="1F1F1F"/>
              </a:solidFill>
              <a:highlight>
                <a:srgbClr val="FFFFFF"/>
              </a:highlight>
              <a:latin typeface="Courier New"/>
              <a:ea typeface="Courier New"/>
              <a:cs typeface="Courier New"/>
              <a:sym typeface="Courier New"/>
            </a:endParaRPr>
          </a:p>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6">
                                            <p:txEl>
                                              <p:pRg st="0" end="0"/>
                                            </p:txEl>
                                          </p:spTgt>
                                        </p:tgtEl>
                                        <p:attrNameLst>
                                          <p:attrName>style.visibility</p:attrName>
                                        </p:attrNameLst>
                                      </p:cBhvr>
                                      <p:to>
                                        <p:strVal val="visible"/>
                                      </p:to>
                                    </p:set>
                                    <p:anim calcmode="lin" valueType="num">
                                      <p:cBhvr additive="base">
                                        <p:cTn id="7" dur="300"/>
                                        <p:tgtEl>
                                          <p:spTgt spid="46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66">
                                            <p:txEl>
                                              <p:pRg st="1" end="1"/>
                                            </p:txEl>
                                          </p:spTgt>
                                        </p:tgtEl>
                                        <p:attrNameLst>
                                          <p:attrName>style.visibility</p:attrName>
                                        </p:attrNameLst>
                                      </p:cBhvr>
                                      <p:to>
                                        <p:strVal val="visible"/>
                                      </p:to>
                                    </p:set>
                                    <p:anim calcmode="lin" valueType="num">
                                      <p:cBhvr additive="base">
                                        <p:cTn id="12" dur="300"/>
                                        <p:tgtEl>
                                          <p:spTgt spid="46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66">
                                            <p:txEl>
                                              <p:pRg st="2" end="2"/>
                                            </p:txEl>
                                          </p:spTgt>
                                        </p:tgtEl>
                                        <p:attrNameLst>
                                          <p:attrName>style.visibility</p:attrName>
                                        </p:attrNameLst>
                                      </p:cBhvr>
                                      <p:to>
                                        <p:strVal val="visible"/>
                                      </p:to>
                                    </p:set>
                                    <p:anim calcmode="lin" valueType="num">
                                      <p:cBhvr additive="base">
                                        <p:cTn id="17" dur="300"/>
                                        <p:tgtEl>
                                          <p:spTgt spid="46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66">
                                            <p:txEl>
                                              <p:pRg st="3" end="3"/>
                                            </p:txEl>
                                          </p:spTgt>
                                        </p:tgtEl>
                                        <p:attrNameLst>
                                          <p:attrName>style.visibility</p:attrName>
                                        </p:attrNameLst>
                                      </p:cBhvr>
                                      <p:to>
                                        <p:strVal val="visible"/>
                                      </p:to>
                                    </p:set>
                                    <p:anim calcmode="lin" valueType="num">
                                      <p:cBhvr additive="base">
                                        <p:cTn id="22" dur="300"/>
                                        <p:tgtEl>
                                          <p:spTgt spid="46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66">
                                            <p:txEl>
                                              <p:pRg st="4" end="4"/>
                                            </p:txEl>
                                          </p:spTgt>
                                        </p:tgtEl>
                                        <p:attrNameLst>
                                          <p:attrName>style.visibility</p:attrName>
                                        </p:attrNameLst>
                                      </p:cBhvr>
                                      <p:to>
                                        <p:strVal val="visible"/>
                                      </p:to>
                                    </p:set>
                                    <p:anim calcmode="lin" valueType="num">
                                      <p:cBhvr additive="base">
                                        <p:cTn id="27" dur="300"/>
                                        <p:tgtEl>
                                          <p:spTgt spid="46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66">
                                            <p:txEl>
                                              <p:pRg st="5" end="5"/>
                                            </p:txEl>
                                          </p:spTgt>
                                        </p:tgtEl>
                                        <p:attrNameLst>
                                          <p:attrName>style.visibility</p:attrName>
                                        </p:attrNameLst>
                                      </p:cBhvr>
                                      <p:to>
                                        <p:strVal val="visible"/>
                                      </p:to>
                                    </p:set>
                                    <p:anim calcmode="lin" valueType="num">
                                      <p:cBhvr additive="base">
                                        <p:cTn id="32" dur="300"/>
                                        <p:tgtEl>
                                          <p:spTgt spid="46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g282e807ed40_0_101"/>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73" name="Google Shape;473;g282e807ed40_0_101"/>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Paired RDDs</a:t>
            </a:r>
            <a:endParaRPr sz="2400">
              <a:solidFill>
                <a:srgbClr val="FFFFFF"/>
              </a:solidFill>
            </a:endParaRPr>
          </a:p>
        </p:txBody>
      </p:sp>
      <p:sp>
        <p:nvSpPr>
          <p:cNvPr id="474" name="Google Shape;474;g282e807ed40_0_101"/>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pic>
        <p:nvPicPr>
          <p:cNvPr id="476" name="Google Shape;476;g282e807ed40_0_101"/>
          <p:cNvPicPr preferRelativeResize="0"/>
          <p:nvPr/>
        </p:nvPicPr>
        <p:blipFill>
          <a:blip r:embed="rId3">
            <a:alphaModFix/>
          </a:blip>
          <a:stretch>
            <a:fillRect/>
          </a:stretch>
        </p:blipFill>
        <p:spPr>
          <a:xfrm>
            <a:off x="389694" y="793448"/>
            <a:ext cx="7487933" cy="41936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4">
                                            <p:txEl>
                                              <p:pRg st="0" end="0"/>
                                            </p:txEl>
                                          </p:spTgt>
                                        </p:tgtEl>
                                        <p:attrNameLst>
                                          <p:attrName>style.visibility</p:attrName>
                                        </p:attrNameLst>
                                      </p:cBhvr>
                                      <p:to>
                                        <p:strVal val="visible"/>
                                      </p:to>
                                    </p:set>
                                    <p:anim calcmode="lin" valueType="num">
                                      <p:cBhvr additive="base">
                                        <p:cTn id="7" dur="300"/>
                                        <p:tgtEl>
                                          <p:spTgt spid="47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g282e807ed40_0_48"/>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82" name="Google Shape;482;g282e807ed40_0_48"/>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Operations on Paired RDDs</a:t>
            </a:r>
            <a:endParaRPr sz="2400">
              <a:solidFill>
                <a:srgbClr val="FFFFFF"/>
              </a:solidFill>
            </a:endParaRPr>
          </a:p>
        </p:txBody>
      </p:sp>
      <p:sp>
        <p:nvSpPr>
          <p:cNvPr id="483" name="Google Shape;483;g282e807ed40_0_48"/>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rPr>
              <a:t>Paired RDDs support a variety of operations that can be used to perform powerful data processing tasks. Some of the most common operations on paired RDDs include:</a:t>
            </a:r>
            <a:endParaRPr sz="2000">
              <a:solidFill>
                <a:srgbClr val="1F1F1F"/>
              </a:solidFill>
              <a:highlight>
                <a:srgbClr val="FFFFFF"/>
              </a:highlight>
            </a:endParaRPr>
          </a:p>
          <a:p>
            <a:pPr marL="457200" lvl="0" indent="-355600" algn="l" rtl="0">
              <a:lnSpc>
                <a:spcPct val="115000"/>
              </a:lnSpc>
              <a:spcBef>
                <a:spcPts val="1800"/>
              </a:spcBef>
              <a:spcAft>
                <a:spcPts val="0"/>
              </a:spcAft>
              <a:buClr>
                <a:srgbClr val="1F1F1F"/>
              </a:buClr>
              <a:buSzPts val="2000"/>
              <a:buChar char="➔"/>
            </a:pPr>
            <a:r>
              <a:rPr lang="en" sz="2000">
                <a:solidFill>
                  <a:srgbClr val="1F1F1F"/>
                </a:solidFill>
                <a:highlight>
                  <a:srgbClr val="FFFFFF"/>
                </a:highlight>
              </a:rPr>
              <a:t>reduceByKey(): Reduces the values associated with each key to a single value. This operation is often used to aggregate data, such as counting the number of times each word appears in a text file or calculating the average sales for each product category.</a:t>
            </a:r>
            <a:endParaRPr sz="2000">
              <a:solidFill>
                <a:srgbClr val="1F1F1F"/>
              </a:solidFill>
              <a:highlight>
                <a:srgbClr val="FFFFFF"/>
              </a:highlight>
            </a:endParaRPr>
          </a:p>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3">
                                            <p:txEl>
                                              <p:pRg st="0" end="0"/>
                                            </p:txEl>
                                          </p:spTgt>
                                        </p:tgtEl>
                                        <p:attrNameLst>
                                          <p:attrName>style.visibility</p:attrName>
                                        </p:attrNameLst>
                                      </p:cBhvr>
                                      <p:to>
                                        <p:strVal val="visible"/>
                                      </p:to>
                                    </p:set>
                                    <p:anim calcmode="lin" valueType="num">
                                      <p:cBhvr additive="base">
                                        <p:cTn id="7" dur="300"/>
                                        <p:tgtEl>
                                          <p:spTgt spid="4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83">
                                            <p:txEl>
                                              <p:pRg st="1" end="1"/>
                                            </p:txEl>
                                          </p:spTgt>
                                        </p:tgtEl>
                                        <p:attrNameLst>
                                          <p:attrName>style.visibility</p:attrName>
                                        </p:attrNameLst>
                                      </p:cBhvr>
                                      <p:to>
                                        <p:strVal val="visible"/>
                                      </p:to>
                                    </p:set>
                                    <p:anim calcmode="lin" valueType="num">
                                      <p:cBhvr additive="base">
                                        <p:cTn id="12" dur="300"/>
                                        <p:tgtEl>
                                          <p:spTgt spid="4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83">
                                            <p:txEl>
                                              <p:pRg st="2" end="2"/>
                                            </p:txEl>
                                          </p:spTgt>
                                        </p:tgtEl>
                                        <p:attrNameLst>
                                          <p:attrName>style.visibility</p:attrName>
                                        </p:attrNameLst>
                                      </p:cBhvr>
                                      <p:to>
                                        <p:strVal val="visible"/>
                                      </p:to>
                                    </p:set>
                                    <p:anim calcmode="lin" valueType="num">
                                      <p:cBhvr additive="base">
                                        <p:cTn id="17" dur="300"/>
                                        <p:tgtEl>
                                          <p:spTgt spid="48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g282e807ed40_0_57"/>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90" name="Google Shape;490;g282e807ed40_0_57"/>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Operations on Paired RDDs</a:t>
            </a:r>
            <a:endParaRPr sz="2400">
              <a:solidFill>
                <a:srgbClr val="FFFFFF"/>
              </a:solidFill>
            </a:endParaRPr>
          </a:p>
        </p:txBody>
      </p:sp>
      <p:sp>
        <p:nvSpPr>
          <p:cNvPr id="491" name="Google Shape;491;g282e807ed40_0_57"/>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1800"/>
              </a:spcBef>
              <a:spcAft>
                <a:spcPts val="0"/>
              </a:spcAft>
              <a:buClr>
                <a:srgbClr val="1F1F1F"/>
              </a:buClr>
              <a:buSzPts val="2000"/>
              <a:buChar char="➔"/>
            </a:pPr>
            <a:r>
              <a:rPr lang="en" sz="2000">
                <a:solidFill>
                  <a:srgbClr val="1F1F1F"/>
                </a:solidFill>
                <a:highlight>
                  <a:srgbClr val="FFFFFF"/>
                </a:highlight>
              </a:rPr>
              <a:t>groupByKey(): Groups the elements of the RDD by key. This operation is often used to analyze data by category or group, such as analyzing customer spending by region or product category.</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join(): Joins two paired RDDs together on a common key. This operation is often used to combine data from different sources, such as joining customer information from a CRM system with order data from an e-commerce platform.</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sortByKey(): Sorts the elements of the RDD by key. This operation is often used to generate reports or dashboards, such as a list of the top 10 products by sales or the customers with the highest spending.</a:t>
            </a:r>
            <a:endParaRPr sz="2000">
              <a:solidFill>
                <a:srgbClr val="1F1F1F"/>
              </a:solidFill>
              <a:highlight>
                <a:srgbClr val="FFFFFF"/>
              </a:highlight>
            </a:endParaRPr>
          </a:p>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
                                            <p:txEl>
                                              <p:pRg st="0" end="0"/>
                                            </p:txEl>
                                          </p:spTgt>
                                        </p:tgtEl>
                                        <p:attrNameLst>
                                          <p:attrName>style.visibility</p:attrName>
                                        </p:attrNameLst>
                                      </p:cBhvr>
                                      <p:to>
                                        <p:strVal val="visible"/>
                                      </p:to>
                                    </p:set>
                                    <p:anim calcmode="lin" valueType="num">
                                      <p:cBhvr additive="base">
                                        <p:cTn id="7" dur="300"/>
                                        <p:tgtEl>
                                          <p:spTgt spid="4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91">
                                            <p:txEl>
                                              <p:pRg st="1" end="1"/>
                                            </p:txEl>
                                          </p:spTgt>
                                        </p:tgtEl>
                                        <p:attrNameLst>
                                          <p:attrName>style.visibility</p:attrName>
                                        </p:attrNameLst>
                                      </p:cBhvr>
                                      <p:to>
                                        <p:strVal val="visible"/>
                                      </p:to>
                                    </p:set>
                                    <p:anim calcmode="lin" valueType="num">
                                      <p:cBhvr additive="base">
                                        <p:cTn id="12" dur="300"/>
                                        <p:tgtEl>
                                          <p:spTgt spid="4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91">
                                            <p:txEl>
                                              <p:pRg st="2" end="2"/>
                                            </p:txEl>
                                          </p:spTgt>
                                        </p:tgtEl>
                                        <p:attrNameLst>
                                          <p:attrName>style.visibility</p:attrName>
                                        </p:attrNameLst>
                                      </p:cBhvr>
                                      <p:to>
                                        <p:strVal val="visible"/>
                                      </p:to>
                                    </p:set>
                                    <p:anim calcmode="lin" valueType="num">
                                      <p:cBhvr additive="base">
                                        <p:cTn id="17" dur="300"/>
                                        <p:tgtEl>
                                          <p:spTgt spid="49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91">
                                            <p:txEl>
                                              <p:pRg st="3" end="3"/>
                                            </p:txEl>
                                          </p:spTgt>
                                        </p:tgtEl>
                                        <p:attrNameLst>
                                          <p:attrName>style.visibility</p:attrName>
                                        </p:attrNameLst>
                                      </p:cBhvr>
                                      <p:to>
                                        <p:strVal val="visible"/>
                                      </p:to>
                                    </p:set>
                                    <p:anim calcmode="lin" valueType="num">
                                      <p:cBhvr additive="base">
                                        <p:cTn id="22" dur="300"/>
                                        <p:tgtEl>
                                          <p:spTgt spid="49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282e807ed40_0_65"/>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98" name="Google Shape;498;g282e807ed40_0_65"/>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Operations on Paired RDDs</a:t>
            </a:r>
            <a:endParaRPr sz="2400">
              <a:solidFill>
                <a:srgbClr val="FFFFFF"/>
              </a:solidFill>
            </a:endParaRPr>
          </a:p>
        </p:txBody>
      </p:sp>
      <p:sp>
        <p:nvSpPr>
          <p:cNvPr id="499" name="Google Shape;499;g282e807ed40_0_65"/>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1800"/>
              </a:spcBef>
              <a:spcAft>
                <a:spcPts val="0"/>
              </a:spcAft>
              <a:buClr>
                <a:srgbClr val="1F1F1F"/>
              </a:buClr>
              <a:buSzPts val="2000"/>
              <a:buChar char="➔"/>
            </a:pPr>
            <a:r>
              <a:rPr lang="en" sz="2000">
                <a:solidFill>
                  <a:srgbClr val="1F1F1F"/>
                </a:solidFill>
                <a:highlight>
                  <a:srgbClr val="FFFFFF"/>
                </a:highlight>
              </a:rPr>
              <a:t>groupByKey(): Groups the elements of the RDD by key. This operation is often used to analyze data by category or group, such as analyzing customer spending by region or product category.</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join(): Joins two paired RDDs together on a common key. This operation is often used to combine data from different sources, such as joining customer information from a CRM system with order data from an e-commerce platform.</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sortByKey(): Sorts the elements of the RDD by key. This operation is often used to generate reports or dashboards, such as a list of the top 10 products by sales or the customers with the highest spending.</a:t>
            </a:r>
            <a:endParaRPr sz="2000">
              <a:solidFill>
                <a:srgbClr val="1F1F1F"/>
              </a:solidFill>
              <a:highlight>
                <a:srgbClr val="FFFFFF"/>
              </a:highlight>
            </a:endParaRPr>
          </a:p>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9">
                                            <p:txEl>
                                              <p:pRg st="0" end="0"/>
                                            </p:txEl>
                                          </p:spTgt>
                                        </p:tgtEl>
                                        <p:attrNameLst>
                                          <p:attrName>style.visibility</p:attrName>
                                        </p:attrNameLst>
                                      </p:cBhvr>
                                      <p:to>
                                        <p:strVal val="visible"/>
                                      </p:to>
                                    </p:set>
                                    <p:anim calcmode="lin" valueType="num">
                                      <p:cBhvr additive="base">
                                        <p:cTn id="7" dur="300"/>
                                        <p:tgtEl>
                                          <p:spTgt spid="4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99">
                                            <p:txEl>
                                              <p:pRg st="1" end="1"/>
                                            </p:txEl>
                                          </p:spTgt>
                                        </p:tgtEl>
                                        <p:attrNameLst>
                                          <p:attrName>style.visibility</p:attrName>
                                        </p:attrNameLst>
                                      </p:cBhvr>
                                      <p:to>
                                        <p:strVal val="visible"/>
                                      </p:to>
                                    </p:set>
                                    <p:anim calcmode="lin" valueType="num">
                                      <p:cBhvr additive="base">
                                        <p:cTn id="12" dur="300"/>
                                        <p:tgtEl>
                                          <p:spTgt spid="4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99">
                                            <p:txEl>
                                              <p:pRg st="2" end="2"/>
                                            </p:txEl>
                                          </p:spTgt>
                                        </p:tgtEl>
                                        <p:attrNameLst>
                                          <p:attrName>style.visibility</p:attrName>
                                        </p:attrNameLst>
                                      </p:cBhvr>
                                      <p:to>
                                        <p:strVal val="visible"/>
                                      </p:to>
                                    </p:set>
                                    <p:anim calcmode="lin" valueType="num">
                                      <p:cBhvr additive="base">
                                        <p:cTn id="17" dur="300"/>
                                        <p:tgtEl>
                                          <p:spTgt spid="4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99">
                                            <p:txEl>
                                              <p:pRg st="3" end="3"/>
                                            </p:txEl>
                                          </p:spTgt>
                                        </p:tgtEl>
                                        <p:attrNameLst>
                                          <p:attrName>style.visibility</p:attrName>
                                        </p:attrNameLst>
                                      </p:cBhvr>
                                      <p:to>
                                        <p:strVal val="visible"/>
                                      </p:to>
                                    </p:set>
                                    <p:anim calcmode="lin" valueType="num">
                                      <p:cBhvr additive="base">
                                        <p:cTn id="22" dur="300"/>
                                        <p:tgtEl>
                                          <p:spTgt spid="49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g282e807ed40_0_72"/>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06" name="Google Shape;506;g282e807ed40_0_72"/>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Examples: </a:t>
            </a:r>
            <a:endParaRPr sz="2400">
              <a:solidFill>
                <a:srgbClr val="FFFFFF"/>
              </a:solidFill>
            </a:endParaRPr>
          </a:p>
        </p:txBody>
      </p:sp>
      <p:sp>
        <p:nvSpPr>
          <p:cNvPr id="507" name="Google Shape;507;g282e807ed40_0_72"/>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2000" b="1">
                <a:solidFill>
                  <a:srgbClr val="1F1F1F"/>
                </a:solidFill>
                <a:highlight>
                  <a:srgbClr val="FFFFFF"/>
                </a:highlight>
              </a:rPr>
              <a:t>Counting the number of times each word appears in a text file:</a:t>
            </a:r>
            <a:endParaRPr sz="2000" b="1">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r>
              <a:rPr lang="en" sz="1800">
                <a:solidFill>
                  <a:schemeClr val="dk1"/>
                </a:solidFill>
                <a:latin typeface="Courier New"/>
                <a:ea typeface="Courier New"/>
                <a:cs typeface="Courier New"/>
                <a:sym typeface="Courier New"/>
              </a:rPr>
              <a:t>import</a:t>
            </a:r>
            <a:r>
              <a:rPr lang="en" sz="1800">
                <a:solidFill>
                  <a:srgbClr val="444746"/>
                </a:solidFill>
                <a:highlight>
                  <a:srgbClr val="F8FAFD"/>
                </a:highlight>
                <a:latin typeface="Courier New"/>
                <a:ea typeface="Courier New"/>
                <a:cs typeface="Courier New"/>
                <a:sym typeface="Courier New"/>
              </a:rPr>
              <a:t> re </a:t>
            </a:r>
            <a:endParaRPr sz="18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a:solidFill>
                  <a:srgbClr val="444746"/>
                </a:solidFill>
                <a:highlight>
                  <a:srgbClr val="F8FAFD"/>
                </a:highlight>
                <a:latin typeface="Courier New"/>
                <a:ea typeface="Courier New"/>
                <a:cs typeface="Courier New"/>
                <a:sym typeface="Courier New"/>
              </a:rPr>
              <a:t>sc = SparkContext() </a:t>
            </a:r>
            <a:endParaRPr sz="18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a:solidFill>
                  <a:srgbClr val="444746"/>
                </a:solidFill>
                <a:highlight>
                  <a:srgbClr val="F8FAFD"/>
                </a:highlight>
                <a:latin typeface="Courier New"/>
                <a:ea typeface="Courier New"/>
                <a:cs typeface="Courier New"/>
                <a:sym typeface="Courier New"/>
              </a:rPr>
              <a:t>text_file = sc.textFile(</a:t>
            </a:r>
            <a:r>
              <a:rPr lang="en" sz="1800">
                <a:solidFill>
                  <a:schemeClr val="dk1"/>
                </a:solidFill>
                <a:latin typeface="Courier New"/>
                <a:ea typeface="Courier New"/>
                <a:cs typeface="Courier New"/>
                <a:sym typeface="Courier New"/>
              </a:rPr>
              <a:t>"myfile.txt"</a:t>
            </a:r>
            <a:r>
              <a:rPr lang="en" sz="1800">
                <a:solidFill>
                  <a:srgbClr val="444746"/>
                </a:solidFill>
                <a:highlight>
                  <a:srgbClr val="F8FAFD"/>
                </a:highlight>
                <a:latin typeface="Courier New"/>
                <a:ea typeface="Courier New"/>
                <a:cs typeface="Courier New"/>
                <a:sym typeface="Courier New"/>
              </a:rPr>
              <a:t>) </a:t>
            </a:r>
            <a:endParaRPr sz="18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a:solidFill>
                  <a:srgbClr val="444746"/>
                </a:solidFill>
                <a:highlight>
                  <a:srgbClr val="F8FAFD"/>
                </a:highlight>
                <a:latin typeface="Courier New"/>
                <a:ea typeface="Courier New"/>
                <a:cs typeface="Courier New"/>
                <a:sym typeface="Courier New"/>
              </a:rPr>
              <a:t>words = text_file.flatMap(</a:t>
            </a:r>
            <a:r>
              <a:rPr lang="en" sz="1800">
                <a:solidFill>
                  <a:schemeClr val="dk1"/>
                </a:solidFill>
                <a:latin typeface="Courier New"/>
                <a:ea typeface="Courier New"/>
                <a:cs typeface="Courier New"/>
                <a:sym typeface="Courier New"/>
              </a:rPr>
              <a:t>lambda</a:t>
            </a:r>
            <a:r>
              <a:rPr lang="en" sz="1800">
                <a:solidFill>
                  <a:srgbClr val="444746"/>
                </a:solidFill>
                <a:highlight>
                  <a:srgbClr val="F8FAFD"/>
                </a:highlight>
                <a:latin typeface="Courier New"/>
                <a:ea typeface="Courier New"/>
                <a:cs typeface="Courier New"/>
                <a:sym typeface="Courier New"/>
              </a:rPr>
              <a:t> line: re.split(</a:t>
            </a:r>
            <a:r>
              <a:rPr lang="en" sz="1800">
                <a:solidFill>
                  <a:schemeClr val="dk1"/>
                </a:solidFill>
                <a:latin typeface="Courier New"/>
                <a:ea typeface="Courier New"/>
                <a:cs typeface="Courier New"/>
                <a:sym typeface="Courier New"/>
              </a:rPr>
              <a:t>r"\W+"</a:t>
            </a:r>
            <a:r>
              <a:rPr lang="en" sz="1800">
                <a:solidFill>
                  <a:srgbClr val="444746"/>
                </a:solidFill>
                <a:highlight>
                  <a:srgbClr val="F8FAFD"/>
                </a:highlight>
                <a:latin typeface="Courier New"/>
                <a:ea typeface="Courier New"/>
                <a:cs typeface="Courier New"/>
                <a:sym typeface="Courier New"/>
              </a:rPr>
              <a:t>, line)) </a:t>
            </a:r>
            <a:endParaRPr sz="18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a:solidFill>
                  <a:srgbClr val="444746"/>
                </a:solidFill>
                <a:highlight>
                  <a:srgbClr val="F8FAFD"/>
                </a:highlight>
                <a:latin typeface="Courier New"/>
                <a:ea typeface="Courier New"/>
                <a:cs typeface="Courier New"/>
                <a:sym typeface="Courier New"/>
              </a:rPr>
              <a:t>word_counts = words.</a:t>
            </a:r>
            <a:r>
              <a:rPr lang="en" sz="1800">
                <a:solidFill>
                  <a:schemeClr val="dk1"/>
                </a:solidFill>
                <a:latin typeface="Courier New"/>
                <a:ea typeface="Courier New"/>
                <a:cs typeface="Courier New"/>
                <a:sym typeface="Courier New"/>
              </a:rPr>
              <a:t>map</a:t>
            </a:r>
            <a:r>
              <a:rPr lang="en" sz="1800">
                <a:solidFill>
                  <a:srgbClr val="444746"/>
                </a:solidFill>
                <a:highlight>
                  <a:srgbClr val="F8FAFD"/>
                </a:highlight>
                <a:latin typeface="Courier New"/>
                <a:ea typeface="Courier New"/>
                <a:cs typeface="Courier New"/>
                <a:sym typeface="Courier New"/>
              </a:rPr>
              <a:t>(</a:t>
            </a:r>
            <a:r>
              <a:rPr lang="en" sz="1800">
                <a:solidFill>
                  <a:schemeClr val="dk1"/>
                </a:solidFill>
                <a:latin typeface="Courier New"/>
                <a:ea typeface="Courier New"/>
                <a:cs typeface="Courier New"/>
                <a:sym typeface="Courier New"/>
              </a:rPr>
              <a:t>lambda</a:t>
            </a:r>
            <a:r>
              <a:rPr lang="en" sz="1800">
                <a:solidFill>
                  <a:srgbClr val="444746"/>
                </a:solidFill>
                <a:highlight>
                  <a:srgbClr val="F8FAFD"/>
                </a:highlight>
                <a:latin typeface="Courier New"/>
                <a:ea typeface="Courier New"/>
                <a:cs typeface="Courier New"/>
                <a:sym typeface="Courier New"/>
              </a:rPr>
              <a:t> word: (word, </a:t>
            </a:r>
            <a:r>
              <a:rPr lang="en" sz="1800">
                <a:solidFill>
                  <a:schemeClr val="dk1"/>
                </a:solidFill>
                <a:latin typeface="Courier New"/>
                <a:ea typeface="Courier New"/>
                <a:cs typeface="Courier New"/>
                <a:sym typeface="Courier New"/>
              </a:rPr>
              <a:t>1</a:t>
            </a:r>
            <a:r>
              <a:rPr lang="en" sz="1800">
                <a:solidFill>
                  <a:srgbClr val="444746"/>
                </a:solidFill>
                <a:highlight>
                  <a:srgbClr val="F8FAFD"/>
                </a:highlight>
                <a:latin typeface="Courier New"/>
                <a:ea typeface="Courier New"/>
                <a:cs typeface="Courier New"/>
                <a:sym typeface="Courier New"/>
              </a:rPr>
              <a:t>)) </a:t>
            </a:r>
            <a:endParaRPr sz="18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1800"/>
              </a:spcAft>
              <a:buClr>
                <a:schemeClr val="dk1"/>
              </a:buClr>
              <a:buSzPts val="1100"/>
              <a:buFont typeface="Arial"/>
              <a:buNone/>
            </a:pPr>
            <a:r>
              <a:rPr lang="en" sz="1800">
                <a:solidFill>
                  <a:srgbClr val="444746"/>
                </a:solidFill>
                <a:highlight>
                  <a:srgbClr val="F8FAFD"/>
                </a:highlight>
                <a:latin typeface="Courier New"/>
                <a:ea typeface="Courier New"/>
                <a:cs typeface="Courier New"/>
                <a:sym typeface="Courier New"/>
              </a:rPr>
              <a:t>word_counts = word_counts.reduceByKey(</a:t>
            </a:r>
            <a:r>
              <a:rPr lang="en" sz="1800">
                <a:solidFill>
                  <a:schemeClr val="dk1"/>
                </a:solidFill>
                <a:latin typeface="Courier New"/>
                <a:ea typeface="Courier New"/>
                <a:cs typeface="Courier New"/>
                <a:sym typeface="Courier New"/>
              </a:rPr>
              <a:t>lambda</a:t>
            </a:r>
            <a:r>
              <a:rPr lang="en" sz="1800">
                <a:solidFill>
                  <a:srgbClr val="444746"/>
                </a:solidFill>
                <a:highlight>
                  <a:srgbClr val="F8FAFD"/>
                </a:highlight>
                <a:latin typeface="Courier New"/>
                <a:ea typeface="Courier New"/>
                <a:cs typeface="Courier New"/>
                <a:sym typeface="Courier New"/>
              </a:rPr>
              <a:t> x, y: x + y)</a:t>
            </a:r>
            <a:endParaRPr sz="18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7">
                                            <p:txEl>
                                              <p:pRg st="0" end="0"/>
                                            </p:txEl>
                                          </p:spTgt>
                                        </p:tgtEl>
                                        <p:attrNameLst>
                                          <p:attrName>style.visibility</p:attrName>
                                        </p:attrNameLst>
                                      </p:cBhvr>
                                      <p:to>
                                        <p:strVal val="visible"/>
                                      </p:to>
                                    </p:set>
                                    <p:anim calcmode="lin" valueType="num">
                                      <p:cBhvr additive="base">
                                        <p:cTn id="7" dur="300"/>
                                        <p:tgtEl>
                                          <p:spTgt spid="5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07">
                                            <p:txEl>
                                              <p:pRg st="1" end="1"/>
                                            </p:txEl>
                                          </p:spTgt>
                                        </p:tgtEl>
                                        <p:attrNameLst>
                                          <p:attrName>style.visibility</p:attrName>
                                        </p:attrNameLst>
                                      </p:cBhvr>
                                      <p:to>
                                        <p:strVal val="visible"/>
                                      </p:to>
                                    </p:set>
                                    <p:anim calcmode="lin" valueType="num">
                                      <p:cBhvr additive="base">
                                        <p:cTn id="12" dur="300"/>
                                        <p:tgtEl>
                                          <p:spTgt spid="5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07">
                                            <p:txEl>
                                              <p:pRg st="2" end="2"/>
                                            </p:txEl>
                                          </p:spTgt>
                                        </p:tgtEl>
                                        <p:attrNameLst>
                                          <p:attrName>style.visibility</p:attrName>
                                        </p:attrNameLst>
                                      </p:cBhvr>
                                      <p:to>
                                        <p:strVal val="visible"/>
                                      </p:to>
                                    </p:set>
                                    <p:anim calcmode="lin" valueType="num">
                                      <p:cBhvr additive="base">
                                        <p:cTn id="17" dur="300"/>
                                        <p:tgtEl>
                                          <p:spTgt spid="5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07">
                                            <p:txEl>
                                              <p:pRg st="3" end="3"/>
                                            </p:txEl>
                                          </p:spTgt>
                                        </p:tgtEl>
                                        <p:attrNameLst>
                                          <p:attrName>style.visibility</p:attrName>
                                        </p:attrNameLst>
                                      </p:cBhvr>
                                      <p:to>
                                        <p:strVal val="visible"/>
                                      </p:to>
                                    </p:set>
                                    <p:anim calcmode="lin" valueType="num">
                                      <p:cBhvr additive="base">
                                        <p:cTn id="22" dur="300"/>
                                        <p:tgtEl>
                                          <p:spTgt spid="5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07">
                                            <p:txEl>
                                              <p:pRg st="4" end="4"/>
                                            </p:txEl>
                                          </p:spTgt>
                                        </p:tgtEl>
                                        <p:attrNameLst>
                                          <p:attrName>style.visibility</p:attrName>
                                        </p:attrNameLst>
                                      </p:cBhvr>
                                      <p:to>
                                        <p:strVal val="visible"/>
                                      </p:to>
                                    </p:set>
                                    <p:anim calcmode="lin" valueType="num">
                                      <p:cBhvr additive="base">
                                        <p:cTn id="27" dur="300"/>
                                        <p:tgtEl>
                                          <p:spTgt spid="50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07">
                                            <p:txEl>
                                              <p:pRg st="5" end="5"/>
                                            </p:txEl>
                                          </p:spTgt>
                                        </p:tgtEl>
                                        <p:attrNameLst>
                                          <p:attrName>style.visibility</p:attrName>
                                        </p:attrNameLst>
                                      </p:cBhvr>
                                      <p:to>
                                        <p:strVal val="visible"/>
                                      </p:to>
                                    </p:set>
                                    <p:anim calcmode="lin" valueType="num">
                                      <p:cBhvr additive="base">
                                        <p:cTn id="32" dur="300"/>
                                        <p:tgtEl>
                                          <p:spTgt spid="50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07">
                                            <p:txEl>
                                              <p:pRg st="6" end="6"/>
                                            </p:txEl>
                                          </p:spTgt>
                                        </p:tgtEl>
                                        <p:attrNameLst>
                                          <p:attrName>style.visibility</p:attrName>
                                        </p:attrNameLst>
                                      </p:cBhvr>
                                      <p:to>
                                        <p:strVal val="visible"/>
                                      </p:to>
                                    </p:set>
                                    <p:anim calcmode="lin" valueType="num">
                                      <p:cBhvr additive="base">
                                        <p:cTn id="37" dur="300"/>
                                        <p:tgtEl>
                                          <p:spTgt spid="50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g282e807ed40_0_85"/>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14" name="Google Shape;514;g282e807ed40_0_85"/>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Examples: </a:t>
            </a:r>
            <a:endParaRPr sz="2400">
              <a:solidFill>
                <a:srgbClr val="FFFFFF"/>
              </a:solidFill>
            </a:endParaRPr>
          </a:p>
        </p:txBody>
      </p:sp>
      <p:sp>
        <p:nvSpPr>
          <p:cNvPr id="515" name="Google Shape;515;g282e807ed40_0_85"/>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2000" b="1">
                <a:solidFill>
                  <a:srgbClr val="1F1F1F"/>
                </a:solidFill>
                <a:highlight>
                  <a:srgbClr val="FFFFFF"/>
                </a:highlight>
              </a:rPr>
              <a:t>Generating a list of the top 10 products by sales:</a:t>
            </a:r>
            <a:endParaRPr sz="2000" b="1">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r>
              <a:rPr lang="en" sz="2000">
                <a:solidFill>
                  <a:schemeClr val="dk1"/>
                </a:solidFill>
                <a:latin typeface="Courier New"/>
                <a:ea typeface="Courier New"/>
                <a:cs typeface="Courier New"/>
                <a:sym typeface="Courier New"/>
              </a:rPr>
              <a:t>product_sales = sc.textFile("product_sales.csv")</a:t>
            </a:r>
            <a:endParaRPr sz="2000">
              <a:solidFill>
                <a:schemeClr val="dk1"/>
              </a:solidFill>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2000">
                <a:solidFill>
                  <a:schemeClr val="dk1"/>
                </a:solidFill>
                <a:latin typeface="Courier New"/>
                <a:ea typeface="Courier New"/>
                <a:cs typeface="Courier New"/>
                <a:sym typeface="Courier New"/>
              </a:rPr>
              <a:t>product_sales_by_product_id = product_sales.map(lambda line: (line.split(",")[0], float(line.split(",")[1])))</a:t>
            </a:r>
            <a:endParaRPr sz="2000">
              <a:solidFill>
                <a:schemeClr val="dk1"/>
              </a:solidFill>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2000">
                <a:solidFill>
                  <a:schemeClr val="dk1"/>
                </a:solidFill>
                <a:latin typeface="Courier New"/>
                <a:ea typeface="Courier New"/>
                <a:cs typeface="Courier New"/>
                <a:sym typeface="Courier New"/>
              </a:rPr>
              <a:t>top_10_products = product_sales_by_product_id.reduceByKey(lambda x, y: x + y).sortByKey(False).take(10)</a:t>
            </a:r>
            <a:endParaRPr sz="2000">
              <a:solidFill>
                <a:schemeClr val="dk1"/>
              </a:solidFill>
              <a:latin typeface="Courier New"/>
              <a:ea typeface="Courier New"/>
              <a:cs typeface="Courier New"/>
              <a:sym typeface="Courier New"/>
            </a:endParaRPr>
          </a:p>
          <a:p>
            <a:pPr marL="0" lvl="0" indent="0" algn="l" rtl="0">
              <a:lnSpc>
                <a:spcPct val="115000"/>
              </a:lnSpc>
              <a:spcBef>
                <a:spcPts val="1800"/>
              </a:spcBef>
              <a:spcAft>
                <a:spcPts val="1800"/>
              </a:spcAft>
              <a:buClr>
                <a:schemeClr val="dk1"/>
              </a:buClr>
              <a:buSzPts val="1100"/>
              <a:buFont typeface="Arial"/>
              <a:buNone/>
            </a:pPr>
            <a:endParaRPr sz="1800">
              <a:solidFill>
                <a:schemeClr val="dk1"/>
              </a:solidFill>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5">
                                            <p:txEl>
                                              <p:pRg st="0" end="0"/>
                                            </p:txEl>
                                          </p:spTgt>
                                        </p:tgtEl>
                                        <p:attrNameLst>
                                          <p:attrName>style.visibility</p:attrName>
                                        </p:attrNameLst>
                                      </p:cBhvr>
                                      <p:to>
                                        <p:strVal val="visible"/>
                                      </p:to>
                                    </p:set>
                                    <p:anim calcmode="lin" valueType="num">
                                      <p:cBhvr additive="base">
                                        <p:cTn id="7" dur="300"/>
                                        <p:tgtEl>
                                          <p:spTgt spid="5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15">
                                            <p:txEl>
                                              <p:pRg st="1" end="1"/>
                                            </p:txEl>
                                          </p:spTgt>
                                        </p:tgtEl>
                                        <p:attrNameLst>
                                          <p:attrName>style.visibility</p:attrName>
                                        </p:attrNameLst>
                                      </p:cBhvr>
                                      <p:to>
                                        <p:strVal val="visible"/>
                                      </p:to>
                                    </p:set>
                                    <p:anim calcmode="lin" valueType="num">
                                      <p:cBhvr additive="base">
                                        <p:cTn id="12" dur="300"/>
                                        <p:tgtEl>
                                          <p:spTgt spid="5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15">
                                            <p:txEl>
                                              <p:pRg st="2" end="2"/>
                                            </p:txEl>
                                          </p:spTgt>
                                        </p:tgtEl>
                                        <p:attrNameLst>
                                          <p:attrName>style.visibility</p:attrName>
                                        </p:attrNameLst>
                                      </p:cBhvr>
                                      <p:to>
                                        <p:strVal val="visible"/>
                                      </p:to>
                                    </p:set>
                                    <p:anim calcmode="lin" valueType="num">
                                      <p:cBhvr additive="base">
                                        <p:cTn id="17" dur="300"/>
                                        <p:tgtEl>
                                          <p:spTgt spid="5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15">
                                            <p:txEl>
                                              <p:pRg st="3" end="3"/>
                                            </p:txEl>
                                          </p:spTgt>
                                        </p:tgtEl>
                                        <p:attrNameLst>
                                          <p:attrName>style.visibility</p:attrName>
                                        </p:attrNameLst>
                                      </p:cBhvr>
                                      <p:to>
                                        <p:strVal val="visible"/>
                                      </p:to>
                                    </p:set>
                                    <p:anim calcmode="lin" valueType="num">
                                      <p:cBhvr additive="base">
                                        <p:cTn id="22" dur="300"/>
                                        <p:tgtEl>
                                          <p:spTgt spid="5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15">
                                            <p:txEl>
                                              <p:pRg st="4" end="4"/>
                                            </p:txEl>
                                          </p:spTgt>
                                        </p:tgtEl>
                                        <p:attrNameLst>
                                          <p:attrName>style.visibility</p:attrName>
                                        </p:attrNameLst>
                                      </p:cBhvr>
                                      <p:to>
                                        <p:strVal val="visible"/>
                                      </p:to>
                                    </p:set>
                                    <p:anim calcmode="lin" valueType="num">
                                      <p:cBhvr additive="base">
                                        <p:cTn id="27" dur="300"/>
                                        <p:tgtEl>
                                          <p:spTgt spid="51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g282e807ed40_0_10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22" name="Google Shape;522;g282e807ed40_0_109"/>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Structured APIs</a:t>
            </a:r>
            <a:endParaRPr sz="2400">
              <a:solidFill>
                <a:srgbClr val="FFFFFF"/>
              </a:solidFill>
            </a:endParaRPr>
          </a:p>
        </p:txBody>
      </p:sp>
      <p:sp>
        <p:nvSpPr>
          <p:cNvPr id="523" name="Google Shape;523;g282e807ed40_0_109"/>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rPr>
              <a:t>Structured APIs are a set of APIs in Apache Spark that provide a high-level abstraction for working with data. They are designed to make it easy to perform common data processing tasks, such as filtering, sorting, aggregating, and joining data.</a:t>
            </a:r>
            <a:endParaRPr sz="2000">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endParaRPr sz="2000">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rPr>
              <a:t>Structured APIs are built on top of Spark's Resilient Distributed Datasets (RDDs). RDDs are a low-level abstraction for working with data in Spark. They are distributed across multiple machines and can be processed in parallel.</a:t>
            </a:r>
            <a:endParaRPr sz="2000">
              <a:solidFill>
                <a:srgbClr val="1F1F1F"/>
              </a:solidFill>
              <a:highlight>
                <a:srgbClr val="FFFFFF"/>
              </a:highlight>
            </a:endParaRPr>
          </a:p>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3">
                                            <p:txEl>
                                              <p:pRg st="0" end="0"/>
                                            </p:txEl>
                                          </p:spTgt>
                                        </p:tgtEl>
                                        <p:attrNameLst>
                                          <p:attrName>style.visibility</p:attrName>
                                        </p:attrNameLst>
                                      </p:cBhvr>
                                      <p:to>
                                        <p:strVal val="visible"/>
                                      </p:to>
                                    </p:set>
                                    <p:anim calcmode="lin" valueType="num">
                                      <p:cBhvr additive="base">
                                        <p:cTn id="7" dur="300"/>
                                        <p:tgtEl>
                                          <p:spTgt spid="5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23">
                                            <p:txEl>
                                              <p:pRg st="1" end="1"/>
                                            </p:txEl>
                                          </p:spTgt>
                                        </p:tgtEl>
                                        <p:attrNameLst>
                                          <p:attrName>style.visibility</p:attrName>
                                        </p:attrNameLst>
                                      </p:cBhvr>
                                      <p:to>
                                        <p:strVal val="visible"/>
                                      </p:to>
                                    </p:set>
                                    <p:anim calcmode="lin" valueType="num">
                                      <p:cBhvr additive="base">
                                        <p:cTn id="12" dur="300"/>
                                        <p:tgtEl>
                                          <p:spTgt spid="5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23">
                                            <p:txEl>
                                              <p:pRg st="2" end="2"/>
                                            </p:txEl>
                                          </p:spTgt>
                                        </p:tgtEl>
                                        <p:attrNameLst>
                                          <p:attrName>style.visibility</p:attrName>
                                        </p:attrNameLst>
                                      </p:cBhvr>
                                      <p:to>
                                        <p:strVal val="visible"/>
                                      </p:to>
                                    </p:set>
                                    <p:anim calcmode="lin" valueType="num">
                                      <p:cBhvr additive="base">
                                        <p:cTn id="17" dur="300"/>
                                        <p:tgtEl>
                                          <p:spTgt spid="5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23">
                                            <p:txEl>
                                              <p:pRg st="3" end="3"/>
                                            </p:txEl>
                                          </p:spTgt>
                                        </p:tgtEl>
                                        <p:attrNameLst>
                                          <p:attrName>style.visibility</p:attrName>
                                        </p:attrNameLst>
                                      </p:cBhvr>
                                      <p:to>
                                        <p:strVal val="visible"/>
                                      </p:to>
                                    </p:set>
                                    <p:anim calcmode="lin" valueType="num">
                                      <p:cBhvr additive="base">
                                        <p:cTn id="22" dur="300"/>
                                        <p:tgtEl>
                                          <p:spTgt spid="52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g282e807ed40_0_118"/>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0" name="Google Shape;530;g282e807ed40_0_118"/>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Structured APIs</a:t>
            </a:r>
            <a:endParaRPr sz="2400">
              <a:solidFill>
                <a:srgbClr val="FFFFFF"/>
              </a:solidFill>
            </a:endParaRPr>
          </a:p>
        </p:txBody>
      </p:sp>
      <p:sp>
        <p:nvSpPr>
          <p:cNvPr id="531" name="Google Shape;531;g282e807ed40_0_118"/>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pic>
        <p:nvPicPr>
          <p:cNvPr id="533" name="Google Shape;533;g282e807ed40_0_118"/>
          <p:cNvPicPr preferRelativeResize="0"/>
          <p:nvPr/>
        </p:nvPicPr>
        <p:blipFill>
          <a:blip r:embed="rId3">
            <a:alphaModFix/>
          </a:blip>
          <a:stretch>
            <a:fillRect/>
          </a:stretch>
        </p:blipFill>
        <p:spPr>
          <a:xfrm>
            <a:off x="128450" y="1352438"/>
            <a:ext cx="8887100" cy="2438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1">
                                            <p:txEl>
                                              <p:pRg st="0" end="0"/>
                                            </p:txEl>
                                          </p:spTgt>
                                        </p:tgtEl>
                                        <p:attrNameLst>
                                          <p:attrName>style.visibility</p:attrName>
                                        </p:attrNameLst>
                                      </p:cBhvr>
                                      <p:to>
                                        <p:strVal val="visible"/>
                                      </p:to>
                                    </p:set>
                                    <p:anim calcmode="lin" valueType="num">
                                      <p:cBhvr additive="base">
                                        <p:cTn id="7" dur="300"/>
                                        <p:tgtEl>
                                          <p:spTgt spid="53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282e807ed40_0_126"/>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9" name="Google Shape;539;g282e807ed40_0_126"/>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Structured APIs</a:t>
            </a:r>
            <a:endParaRPr sz="2400">
              <a:solidFill>
                <a:srgbClr val="FFFFFF"/>
              </a:solidFill>
            </a:endParaRPr>
          </a:p>
        </p:txBody>
      </p:sp>
      <p:sp>
        <p:nvSpPr>
          <p:cNvPr id="540" name="Google Shape;540;g282e807ed40_0_126"/>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2000">
                <a:solidFill>
                  <a:srgbClr val="1F1F1F"/>
                </a:solidFill>
                <a:highlight>
                  <a:srgbClr val="FFFFFF"/>
                </a:highlight>
              </a:rPr>
              <a:t>Structured APIs are available in two flavors: DataFrames and Datasets.</a:t>
            </a:r>
            <a:endParaRPr sz="2000">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r>
              <a:rPr lang="en" sz="2000" b="1">
                <a:solidFill>
                  <a:srgbClr val="1F1F1F"/>
                </a:solidFill>
                <a:highlight>
                  <a:srgbClr val="FFFFFF"/>
                </a:highlight>
              </a:rPr>
              <a:t>DataFrames: </a:t>
            </a:r>
            <a:r>
              <a:rPr lang="en" sz="2000">
                <a:solidFill>
                  <a:srgbClr val="1F1F1F"/>
                </a:solidFill>
                <a:highlight>
                  <a:srgbClr val="FFFFFF"/>
                </a:highlight>
              </a:rPr>
              <a:t>DataFrames are a tabular representation of data. They are similar to spreadsheets, with rows and columns. DataFrames are a good choice for working with structured data, such as data from a relational database.</a:t>
            </a:r>
            <a:endParaRPr sz="2000">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r>
              <a:rPr lang="en" sz="2000" b="1">
                <a:solidFill>
                  <a:srgbClr val="1F1F1F"/>
                </a:solidFill>
                <a:highlight>
                  <a:srgbClr val="FFFFFF"/>
                </a:highlight>
              </a:rPr>
              <a:t>Datasets: </a:t>
            </a:r>
            <a:r>
              <a:rPr lang="en" sz="2000">
                <a:solidFill>
                  <a:srgbClr val="1F1F1F"/>
                </a:solidFill>
                <a:highlight>
                  <a:srgbClr val="FFFFFF"/>
                </a:highlight>
              </a:rPr>
              <a:t>Datasets are a more powerful representation of data than DataFrames. They provide additional features, such as type safety and support for complex data types. Datasets are a good choice for working with complex data, such as data from a graph database or JSON data.</a:t>
            </a:r>
            <a:endParaRPr sz="2000">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endParaRPr sz="2000">
              <a:solidFill>
                <a:srgbClr val="1F1F1F"/>
              </a:solidFill>
              <a:highlight>
                <a:srgbClr val="FFFFFF"/>
              </a:highlight>
            </a:endParaRPr>
          </a:p>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0">
                                            <p:txEl>
                                              <p:pRg st="0" end="0"/>
                                            </p:txEl>
                                          </p:spTgt>
                                        </p:tgtEl>
                                        <p:attrNameLst>
                                          <p:attrName>style.visibility</p:attrName>
                                        </p:attrNameLst>
                                      </p:cBhvr>
                                      <p:to>
                                        <p:strVal val="visible"/>
                                      </p:to>
                                    </p:set>
                                    <p:anim calcmode="lin" valueType="num">
                                      <p:cBhvr additive="base">
                                        <p:cTn id="7" dur="300"/>
                                        <p:tgtEl>
                                          <p:spTgt spid="54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40">
                                            <p:txEl>
                                              <p:pRg st="1" end="1"/>
                                            </p:txEl>
                                          </p:spTgt>
                                        </p:tgtEl>
                                        <p:attrNameLst>
                                          <p:attrName>style.visibility</p:attrName>
                                        </p:attrNameLst>
                                      </p:cBhvr>
                                      <p:to>
                                        <p:strVal val="visible"/>
                                      </p:to>
                                    </p:set>
                                    <p:anim calcmode="lin" valueType="num">
                                      <p:cBhvr additive="base">
                                        <p:cTn id="12" dur="300"/>
                                        <p:tgtEl>
                                          <p:spTgt spid="54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40">
                                            <p:txEl>
                                              <p:pRg st="2" end="2"/>
                                            </p:txEl>
                                          </p:spTgt>
                                        </p:tgtEl>
                                        <p:attrNameLst>
                                          <p:attrName>style.visibility</p:attrName>
                                        </p:attrNameLst>
                                      </p:cBhvr>
                                      <p:to>
                                        <p:strVal val="visible"/>
                                      </p:to>
                                    </p:set>
                                    <p:anim calcmode="lin" valueType="num">
                                      <p:cBhvr additive="base">
                                        <p:cTn id="17" dur="300"/>
                                        <p:tgtEl>
                                          <p:spTgt spid="54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40">
                                            <p:txEl>
                                              <p:pRg st="3" end="3"/>
                                            </p:txEl>
                                          </p:spTgt>
                                        </p:tgtEl>
                                        <p:attrNameLst>
                                          <p:attrName>style.visibility</p:attrName>
                                        </p:attrNameLst>
                                      </p:cBhvr>
                                      <p:to>
                                        <p:strVal val="visible"/>
                                      </p:to>
                                    </p:set>
                                    <p:anim calcmode="lin" valueType="num">
                                      <p:cBhvr additive="base">
                                        <p:cTn id="22" dur="300"/>
                                        <p:tgtEl>
                                          <p:spTgt spid="54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40">
                                            <p:txEl>
                                              <p:pRg st="4" end="4"/>
                                            </p:txEl>
                                          </p:spTgt>
                                        </p:tgtEl>
                                        <p:attrNameLst>
                                          <p:attrName>style.visibility</p:attrName>
                                        </p:attrNameLst>
                                      </p:cBhvr>
                                      <p:to>
                                        <p:strVal val="visible"/>
                                      </p:to>
                                    </p:set>
                                    <p:anim calcmode="lin" valueType="num">
                                      <p:cBhvr additive="base">
                                        <p:cTn id="27" dur="300"/>
                                        <p:tgtEl>
                                          <p:spTgt spid="54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g282e807ed40_0_190"/>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7" name="Google Shape;547;g282e807ed40_0_190"/>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Dataframes and Datasets</a:t>
            </a:r>
            <a:endParaRPr sz="2400">
              <a:solidFill>
                <a:srgbClr val="FFFFFF"/>
              </a:solidFill>
            </a:endParaRPr>
          </a:p>
        </p:txBody>
      </p:sp>
      <p:sp>
        <p:nvSpPr>
          <p:cNvPr id="548" name="Google Shape;548;g282e807ed40_0_190"/>
          <p:cNvSpPr txBox="1"/>
          <p:nvPr/>
        </p:nvSpPr>
        <p:spPr>
          <a:xfrm>
            <a:off x="77475" y="793450"/>
            <a:ext cx="9144000" cy="4193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55600" algn="l" rtl="0">
              <a:lnSpc>
                <a:spcPct val="115000"/>
              </a:lnSpc>
              <a:spcBef>
                <a:spcPts val="1800"/>
              </a:spcBef>
              <a:spcAft>
                <a:spcPts val="0"/>
              </a:spcAft>
              <a:buClr>
                <a:srgbClr val="1F1F1F"/>
              </a:buClr>
              <a:buSzPts val="2000"/>
              <a:buChar char="➔"/>
            </a:pPr>
            <a:r>
              <a:rPr lang="en" sz="2000">
                <a:solidFill>
                  <a:srgbClr val="1F1F1F"/>
                </a:solidFill>
                <a:highlight>
                  <a:srgbClr val="FFFFFF"/>
                </a:highlight>
              </a:rPr>
              <a:t>High-level API: Code written using dataframe abstraction is structured just like dataframes in pandas. The code is highly readable and easy to write. Therefore, it becomes accessible to a lot of people other than specialists like data engineers or data scientists.</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Memory management: Transformations on RDDs are performed in executors. These transformations take place in the heap memory of the executors, which are essentially </a:t>
            </a:r>
            <a:r>
              <a:rPr lang="en" sz="2000" b="1">
                <a:solidFill>
                  <a:srgbClr val="1F1F1F"/>
                </a:solidFill>
                <a:highlight>
                  <a:srgbClr val="FFFFFF"/>
                </a:highlight>
              </a:rPr>
              <a:t>Java Virtual Machines(JVMs)</a:t>
            </a:r>
            <a:r>
              <a:rPr lang="en" sz="2000">
                <a:solidFill>
                  <a:srgbClr val="1F1F1F"/>
                </a:solidFill>
                <a:highlight>
                  <a:srgbClr val="FFFFFF"/>
                </a:highlight>
              </a:rPr>
              <a:t>. On the other hand, Dataframes use off-heap memory in addition to the heap memory on JVMs. Hence, managing both heap and off-heap memory requires custom memory management. As you go through the next couple of points, you will understand why it is beneficial to utilise off-heap memory. </a:t>
            </a:r>
            <a:endParaRPr sz="2000">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endParaRPr sz="2000">
              <a:solidFill>
                <a:srgbClr val="1F1F1F"/>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endParaRPr sz="2000">
              <a:solidFill>
                <a:srgbClr val="1F1F1F"/>
              </a:solidFill>
              <a:highlight>
                <a:srgbClr val="FFFFFF"/>
              </a:highlight>
            </a:endParaRPr>
          </a:p>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8">
                                            <p:txEl>
                                              <p:pRg st="0" end="0"/>
                                            </p:txEl>
                                          </p:spTgt>
                                        </p:tgtEl>
                                        <p:attrNameLst>
                                          <p:attrName>style.visibility</p:attrName>
                                        </p:attrNameLst>
                                      </p:cBhvr>
                                      <p:to>
                                        <p:strVal val="visible"/>
                                      </p:to>
                                    </p:set>
                                    <p:anim calcmode="lin" valueType="num">
                                      <p:cBhvr additive="base">
                                        <p:cTn id="7" dur="300"/>
                                        <p:tgtEl>
                                          <p:spTgt spid="54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48">
                                            <p:txEl>
                                              <p:pRg st="1" end="1"/>
                                            </p:txEl>
                                          </p:spTgt>
                                        </p:tgtEl>
                                        <p:attrNameLst>
                                          <p:attrName>style.visibility</p:attrName>
                                        </p:attrNameLst>
                                      </p:cBhvr>
                                      <p:to>
                                        <p:strVal val="visible"/>
                                      </p:to>
                                    </p:set>
                                    <p:anim calcmode="lin" valueType="num">
                                      <p:cBhvr additive="base">
                                        <p:cTn id="12" dur="300"/>
                                        <p:tgtEl>
                                          <p:spTgt spid="54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48">
                                            <p:txEl>
                                              <p:pRg st="2" end="2"/>
                                            </p:txEl>
                                          </p:spTgt>
                                        </p:tgtEl>
                                        <p:attrNameLst>
                                          <p:attrName>style.visibility</p:attrName>
                                        </p:attrNameLst>
                                      </p:cBhvr>
                                      <p:to>
                                        <p:strVal val="visible"/>
                                      </p:to>
                                    </p:set>
                                    <p:anim calcmode="lin" valueType="num">
                                      <p:cBhvr additive="base">
                                        <p:cTn id="17" dur="300"/>
                                        <p:tgtEl>
                                          <p:spTgt spid="54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48">
                                            <p:txEl>
                                              <p:pRg st="3" end="3"/>
                                            </p:txEl>
                                          </p:spTgt>
                                        </p:tgtEl>
                                        <p:attrNameLst>
                                          <p:attrName>style.visibility</p:attrName>
                                        </p:attrNameLst>
                                      </p:cBhvr>
                                      <p:to>
                                        <p:strVal val="visible"/>
                                      </p:to>
                                    </p:set>
                                    <p:anim calcmode="lin" valueType="num">
                                      <p:cBhvr additive="base">
                                        <p:cTn id="22" dur="300"/>
                                        <p:tgtEl>
                                          <p:spTgt spid="54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48">
                                            <p:txEl>
                                              <p:pRg st="4" end="4"/>
                                            </p:txEl>
                                          </p:spTgt>
                                        </p:tgtEl>
                                        <p:attrNameLst>
                                          <p:attrName>style.visibility</p:attrName>
                                        </p:attrNameLst>
                                      </p:cBhvr>
                                      <p:to>
                                        <p:strVal val="visible"/>
                                      </p:to>
                                    </p:set>
                                    <p:anim calcmode="lin" valueType="num">
                                      <p:cBhvr additive="base">
                                        <p:cTn id="27" dur="300"/>
                                        <p:tgtEl>
                                          <p:spTgt spid="54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g282e807ed40_0_134"/>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5" name="Google Shape;555;g282e807ed40_0_134"/>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Structured APIs</a:t>
            </a:r>
            <a:endParaRPr sz="2400">
              <a:solidFill>
                <a:srgbClr val="FFFFFF"/>
              </a:solidFill>
            </a:endParaRPr>
          </a:p>
        </p:txBody>
      </p:sp>
      <p:sp>
        <p:nvSpPr>
          <p:cNvPr id="556" name="Google Shape;556;g282e807ed40_0_134"/>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pic>
        <p:nvPicPr>
          <p:cNvPr id="558" name="Google Shape;558;g282e807ed40_0_134"/>
          <p:cNvPicPr preferRelativeResize="0"/>
          <p:nvPr/>
        </p:nvPicPr>
        <p:blipFill>
          <a:blip r:embed="rId3">
            <a:alphaModFix/>
          </a:blip>
          <a:stretch>
            <a:fillRect/>
          </a:stretch>
        </p:blipFill>
        <p:spPr>
          <a:xfrm>
            <a:off x="389700" y="1045663"/>
            <a:ext cx="8116426" cy="36892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6">
                                            <p:txEl>
                                              <p:pRg st="0" end="0"/>
                                            </p:txEl>
                                          </p:spTgt>
                                        </p:tgtEl>
                                        <p:attrNameLst>
                                          <p:attrName>style.visibility</p:attrName>
                                        </p:attrNameLst>
                                      </p:cBhvr>
                                      <p:to>
                                        <p:strVal val="visible"/>
                                      </p:to>
                                    </p:set>
                                    <p:anim calcmode="lin" valueType="num">
                                      <p:cBhvr additive="base">
                                        <p:cTn id="7" dur="300"/>
                                        <p:tgtEl>
                                          <p:spTgt spid="55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g282e807ed40_0_142"/>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64" name="Google Shape;564;g282e807ed40_0_142"/>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Getting Started With Dataframe APIs</a:t>
            </a:r>
            <a:endParaRPr sz="2400">
              <a:solidFill>
                <a:srgbClr val="FFFFFF"/>
              </a:solidFill>
            </a:endParaRPr>
          </a:p>
        </p:txBody>
      </p:sp>
      <p:sp>
        <p:nvSpPr>
          <p:cNvPr id="565" name="Google Shape;565;g282e807ed40_0_142"/>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2000">
                <a:solidFill>
                  <a:schemeClr val="dk1"/>
                </a:solidFill>
                <a:highlight>
                  <a:srgbClr val="FFFFFF"/>
                </a:highlight>
              </a:rPr>
              <a:t>Some of the important commands are as follows: </a:t>
            </a:r>
            <a:endParaRPr sz="2000">
              <a:solidFill>
                <a:schemeClr val="dk1"/>
              </a:solidFill>
              <a:highlight>
                <a:srgbClr val="FFFFFF"/>
              </a:highlight>
            </a:endParaRPr>
          </a:p>
          <a:p>
            <a:pPr marL="457200" lvl="0" indent="-355600" algn="l" rtl="0">
              <a:lnSpc>
                <a:spcPct val="115000"/>
              </a:lnSpc>
              <a:spcBef>
                <a:spcPts val="1800"/>
              </a:spcBef>
              <a:spcAft>
                <a:spcPts val="0"/>
              </a:spcAft>
              <a:buClr>
                <a:schemeClr val="dk1"/>
              </a:buClr>
              <a:buSzPts val="2000"/>
              <a:buChar char="●"/>
            </a:pPr>
            <a:r>
              <a:rPr lang="en" sz="2000">
                <a:solidFill>
                  <a:schemeClr val="dk1"/>
                </a:solidFill>
                <a:highlight>
                  <a:srgbClr val="FFFFFF"/>
                </a:highlight>
              </a:rPr>
              <a:t>spark.sparkContext.parallelize(): This command is used to parallelise data in Spark. It takes a collection of elements and distributes them across the Spark cluster, creating a Resilient Distributed Dataset (RDD). </a:t>
            </a:r>
            <a:endParaRPr sz="2000">
              <a:solidFill>
                <a:schemeClr val="dk1"/>
              </a:solidFill>
              <a:highlight>
                <a:srgbClr val="FFFFFF"/>
              </a:highlight>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highlight>
                  <a:srgbClr val="FFFFFF"/>
                </a:highlight>
              </a:rPr>
              <a:t>collect(): This command retrieves all the data elements from an RDD or a dataframe and returns them as a local collection in the driver program.</a:t>
            </a:r>
            <a:endParaRPr sz="2000">
              <a:solidFill>
                <a:schemeClr val="dk1"/>
              </a:solidFill>
              <a:highlight>
                <a:srgbClr val="FFFFFF"/>
              </a:highlight>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highlight>
                  <a:srgbClr val="FFFFFF"/>
                </a:highlight>
              </a:rPr>
              <a:t>toDF(): This command converts an RDD into a dataframe in Spark. It infers the schema (column names and data types) of the data and treats each element in the RDD as a row in the resulting dataframe.</a:t>
            </a: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5">
                                            <p:txEl>
                                              <p:pRg st="0" end="0"/>
                                            </p:txEl>
                                          </p:spTgt>
                                        </p:tgtEl>
                                        <p:attrNameLst>
                                          <p:attrName>style.visibility</p:attrName>
                                        </p:attrNameLst>
                                      </p:cBhvr>
                                      <p:to>
                                        <p:strVal val="visible"/>
                                      </p:to>
                                    </p:set>
                                    <p:anim calcmode="lin" valueType="num">
                                      <p:cBhvr additive="base">
                                        <p:cTn id="7" dur="300"/>
                                        <p:tgtEl>
                                          <p:spTgt spid="56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65">
                                            <p:txEl>
                                              <p:pRg st="1" end="1"/>
                                            </p:txEl>
                                          </p:spTgt>
                                        </p:tgtEl>
                                        <p:attrNameLst>
                                          <p:attrName>style.visibility</p:attrName>
                                        </p:attrNameLst>
                                      </p:cBhvr>
                                      <p:to>
                                        <p:strVal val="visible"/>
                                      </p:to>
                                    </p:set>
                                    <p:anim calcmode="lin" valueType="num">
                                      <p:cBhvr additive="base">
                                        <p:cTn id="12" dur="300"/>
                                        <p:tgtEl>
                                          <p:spTgt spid="56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65">
                                            <p:txEl>
                                              <p:pRg st="2" end="2"/>
                                            </p:txEl>
                                          </p:spTgt>
                                        </p:tgtEl>
                                        <p:attrNameLst>
                                          <p:attrName>style.visibility</p:attrName>
                                        </p:attrNameLst>
                                      </p:cBhvr>
                                      <p:to>
                                        <p:strVal val="visible"/>
                                      </p:to>
                                    </p:set>
                                    <p:anim calcmode="lin" valueType="num">
                                      <p:cBhvr additive="base">
                                        <p:cTn id="17" dur="300"/>
                                        <p:tgtEl>
                                          <p:spTgt spid="56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65">
                                            <p:txEl>
                                              <p:pRg st="3" end="3"/>
                                            </p:txEl>
                                          </p:spTgt>
                                        </p:tgtEl>
                                        <p:attrNameLst>
                                          <p:attrName>style.visibility</p:attrName>
                                        </p:attrNameLst>
                                      </p:cBhvr>
                                      <p:to>
                                        <p:strVal val="visible"/>
                                      </p:to>
                                    </p:set>
                                    <p:anim calcmode="lin" valueType="num">
                                      <p:cBhvr additive="base">
                                        <p:cTn id="22" dur="300"/>
                                        <p:tgtEl>
                                          <p:spTgt spid="56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g282e807ed40_0_20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72" name="Google Shape;572;g282e807ed40_0_209"/>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Getting Started With Dataframe APIs</a:t>
            </a:r>
            <a:endParaRPr sz="2400">
              <a:solidFill>
                <a:srgbClr val="FFFFFF"/>
              </a:solidFill>
            </a:endParaRPr>
          </a:p>
        </p:txBody>
      </p:sp>
      <p:sp>
        <p:nvSpPr>
          <p:cNvPr id="573" name="Google Shape;573;g282e807ed40_0_209"/>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1800"/>
              </a:spcBef>
              <a:spcAft>
                <a:spcPts val="0"/>
              </a:spcAft>
              <a:buClr>
                <a:schemeClr val="dk1"/>
              </a:buClr>
              <a:buSzPts val="2000"/>
              <a:buChar char="●"/>
            </a:pPr>
            <a:r>
              <a:rPr lang="en" sz="2000">
                <a:solidFill>
                  <a:schemeClr val="dk1"/>
                </a:solidFill>
                <a:highlight>
                  <a:srgbClr val="FFFFFF"/>
                </a:highlight>
              </a:rPr>
              <a:t>printSchema(): This command displays the schema (column names and data types) of a dataframe in a structured and readable format. It helps users understand the structure of the dataframe by providing information about the columns and their corresponding data types. </a:t>
            </a:r>
            <a:endParaRPr sz="2000">
              <a:solidFill>
                <a:schemeClr val="dk1"/>
              </a:solidFill>
              <a:highlight>
                <a:srgbClr val="FFFFFF"/>
              </a:highlight>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highlight>
                  <a:srgbClr val="FFFFFF"/>
                </a:highlight>
              </a:rPr>
              <a:t> show(): This command displays the contents of a dataframe in a tabular format. It presents a concise representation of the dataframe’s data, showing a limited number of rows in a visually appealing table format.</a:t>
            </a:r>
            <a:endParaRPr sz="2000">
              <a:solidFill>
                <a:schemeClr val="dk1"/>
              </a:solidFill>
              <a:highlight>
                <a:srgbClr val="FFFFFF"/>
              </a:highlight>
            </a:endParaRPr>
          </a:p>
          <a:p>
            <a:pPr marL="0" lvl="0" indent="0" algn="l" rtl="0">
              <a:lnSpc>
                <a:spcPct val="115000"/>
              </a:lnSpc>
              <a:spcBef>
                <a:spcPts val="1800"/>
              </a:spcBef>
              <a:spcAft>
                <a:spcPts val="1800"/>
              </a:spcAft>
              <a:buNone/>
            </a:pPr>
            <a:r>
              <a:rPr lang="en" sz="2000">
                <a:solidFill>
                  <a:schemeClr val="accent1"/>
                </a:solidFill>
                <a:highlight>
                  <a:srgbClr val="FFFFFF"/>
                </a:highlight>
              </a:rPr>
              <a:t>By leveraging these commands and techniques, you can efficiently create, manipulate and analyse dataframes in PySpark. The ability to work with structured data in a tabular format provides a powerful tool for data processing and analysis in various real-world scenarios. </a:t>
            </a:r>
            <a:endParaRPr sz="2000">
              <a:solidFill>
                <a:schemeClr val="accent1"/>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3">
                                            <p:txEl>
                                              <p:pRg st="0" end="0"/>
                                            </p:txEl>
                                          </p:spTgt>
                                        </p:tgtEl>
                                        <p:attrNameLst>
                                          <p:attrName>style.visibility</p:attrName>
                                        </p:attrNameLst>
                                      </p:cBhvr>
                                      <p:to>
                                        <p:strVal val="visible"/>
                                      </p:to>
                                    </p:set>
                                    <p:anim calcmode="lin" valueType="num">
                                      <p:cBhvr additive="base">
                                        <p:cTn id="7" dur="300"/>
                                        <p:tgtEl>
                                          <p:spTgt spid="57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73">
                                            <p:txEl>
                                              <p:pRg st="1" end="1"/>
                                            </p:txEl>
                                          </p:spTgt>
                                        </p:tgtEl>
                                        <p:attrNameLst>
                                          <p:attrName>style.visibility</p:attrName>
                                        </p:attrNameLst>
                                      </p:cBhvr>
                                      <p:to>
                                        <p:strVal val="visible"/>
                                      </p:to>
                                    </p:set>
                                    <p:anim calcmode="lin" valueType="num">
                                      <p:cBhvr additive="base">
                                        <p:cTn id="12" dur="300"/>
                                        <p:tgtEl>
                                          <p:spTgt spid="57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73">
                                            <p:txEl>
                                              <p:pRg st="2" end="2"/>
                                            </p:txEl>
                                          </p:spTgt>
                                        </p:tgtEl>
                                        <p:attrNameLst>
                                          <p:attrName>style.visibility</p:attrName>
                                        </p:attrNameLst>
                                      </p:cBhvr>
                                      <p:to>
                                        <p:strVal val="visible"/>
                                      </p:to>
                                    </p:set>
                                    <p:anim calcmode="lin" valueType="num">
                                      <p:cBhvr additive="base">
                                        <p:cTn id="17" dur="300"/>
                                        <p:tgtEl>
                                          <p:spTgt spid="57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g282e807ed40_0_200"/>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0" name="Google Shape;580;g282e807ed40_0_200"/>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Create a Dataframe from RDDs</a:t>
            </a:r>
            <a:endParaRPr sz="2400">
              <a:solidFill>
                <a:srgbClr val="FFFFFF"/>
              </a:solidFill>
            </a:endParaRPr>
          </a:p>
        </p:txBody>
      </p:sp>
      <p:sp>
        <p:nvSpPr>
          <p:cNvPr id="581" name="Google Shape;581;g282e807ed40_0_200"/>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000">
                <a:solidFill>
                  <a:schemeClr val="dk1"/>
                </a:solidFill>
                <a:highlight>
                  <a:srgbClr val="FFFFFF"/>
                </a:highlight>
              </a:rPr>
              <a:t>To create a DataFrame from an RDD in Spark, you can use the </a:t>
            </a:r>
            <a:r>
              <a:rPr lang="en" sz="2000">
                <a:solidFill>
                  <a:srgbClr val="188038"/>
                </a:solidFill>
                <a:highlight>
                  <a:srgbClr val="FFFFFF"/>
                </a:highlight>
                <a:latin typeface="Courier New"/>
                <a:ea typeface="Courier New"/>
                <a:cs typeface="Courier New"/>
                <a:sym typeface="Courier New"/>
              </a:rPr>
              <a:t>toDF()</a:t>
            </a:r>
            <a:r>
              <a:rPr lang="en" sz="2000">
                <a:solidFill>
                  <a:schemeClr val="dk1"/>
                </a:solidFill>
                <a:highlight>
                  <a:srgbClr val="FFFFFF"/>
                </a:highlight>
              </a:rPr>
              <a:t> method. The </a:t>
            </a:r>
            <a:r>
              <a:rPr lang="en" sz="2000">
                <a:solidFill>
                  <a:srgbClr val="188038"/>
                </a:solidFill>
                <a:highlight>
                  <a:srgbClr val="FFFFFF"/>
                </a:highlight>
                <a:latin typeface="Courier New"/>
                <a:ea typeface="Courier New"/>
                <a:cs typeface="Courier New"/>
                <a:sym typeface="Courier New"/>
              </a:rPr>
              <a:t>toDF()</a:t>
            </a:r>
            <a:r>
              <a:rPr lang="en" sz="2000">
                <a:solidFill>
                  <a:schemeClr val="dk1"/>
                </a:solidFill>
                <a:highlight>
                  <a:srgbClr val="FFFFFF"/>
                </a:highlight>
              </a:rPr>
              <a:t> method takes a list of column names as an argument and returns a DataFrame with the specified column names.</a:t>
            </a:r>
            <a:endParaRPr sz="2000">
              <a:solidFill>
                <a:schemeClr val="dk1"/>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r>
              <a:rPr lang="en" sz="2000">
                <a:solidFill>
                  <a:schemeClr val="dk1"/>
                </a:solidFill>
                <a:highlight>
                  <a:srgbClr val="FFFFFF"/>
                </a:highlight>
              </a:rPr>
              <a:t>For example, the following code creates a DataFrame from an RDD of (name, age) pairs:</a:t>
            </a:r>
            <a:endParaRPr sz="2000">
              <a:solidFill>
                <a:schemeClr val="dk1"/>
              </a:solidFill>
              <a:highlight>
                <a:srgbClr val="FFFFFF"/>
              </a:highlight>
            </a:endParaRPr>
          </a:p>
          <a:p>
            <a:pPr marL="0" lvl="0" indent="0" algn="l" rtl="0">
              <a:lnSpc>
                <a:spcPct val="115000"/>
              </a:lnSpc>
              <a:spcBef>
                <a:spcPts val="1800"/>
              </a:spcBef>
              <a:spcAft>
                <a:spcPts val="1800"/>
              </a:spcAft>
              <a:buClr>
                <a:schemeClr val="dk1"/>
              </a:buClr>
              <a:buSzPts val="11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1">
                                            <p:txEl>
                                              <p:pRg st="0" end="0"/>
                                            </p:txEl>
                                          </p:spTgt>
                                        </p:tgtEl>
                                        <p:attrNameLst>
                                          <p:attrName>style.visibility</p:attrName>
                                        </p:attrNameLst>
                                      </p:cBhvr>
                                      <p:to>
                                        <p:strVal val="visible"/>
                                      </p:to>
                                    </p:set>
                                    <p:anim calcmode="lin" valueType="num">
                                      <p:cBhvr additive="base">
                                        <p:cTn id="7" dur="300"/>
                                        <p:tgtEl>
                                          <p:spTgt spid="58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81">
                                            <p:txEl>
                                              <p:pRg st="1" end="1"/>
                                            </p:txEl>
                                          </p:spTgt>
                                        </p:tgtEl>
                                        <p:attrNameLst>
                                          <p:attrName>style.visibility</p:attrName>
                                        </p:attrNameLst>
                                      </p:cBhvr>
                                      <p:to>
                                        <p:strVal val="visible"/>
                                      </p:to>
                                    </p:set>
                                    <p:anim calcmode="lin" valueType="num">
                                      <p:cBhvr additive="base">
                                        <p:cTn id="12" dur="300"/>
                                        <p:tgtEl>
                                          <p:spTgt spid="58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81">
                                            <p:txEl>
                                              <p:pRg st="2" end="2"/>
                                            </p:txEl>
                                          </p:spTgt>
                                        </p:tgtEl>
                                        <p:attrNameLst>
                                          <p:attrName>style.visibility</p:attrName>
                                        </p:attrNameLst>
                                      </p:cBhvr>
                                      <p:to>
                                        <p:strVal val="visible"/>
                                      </p:to>
                                    </p:set>
                                    <p:anim calcmode="lin" valueType="num">
                                      <p:cBhvr additive="base">
                                        <p:cTn id="17" dur="300"/>
                                        <p:tgtEl>
                                          <p:spTgt spid="58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g282e807ed40_0_152"/>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8" name="Google Shape;588;g282e807ed40_0_152"/>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Create a Dataframe from RDDs</a:t>
            </a:r>
            <a:endParaRPr sz="2400">
              <a:solidFill>
                <a:srgbClr val="FFFFFF"/>
              </a:solidFill>
            </a:endParaRPr>
          </a:p>
        </p:txBody>
      </p:sp>
      <p:sp>
        <p:nvSpPr>
          <p:cNvPr id="589" name="Google Shape;589;g282e807ed40_0_152"/>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1500">
                <a:solidFill>
                  <a:schemeClr val="dk1"/>
                </a:solidFill>
                <a:latin typeface="Courier New"/>
                <a:ea typeface="Courier New"/>
                <a:cs typeface="Courier New"/>
                <a:sym typeface="Courier New"/>
              </a:rPr>
              <a:t>import</a:t>
            </a:r>
            <a:r>
              <a:rPr lang="en" sz="1500">
                <a:solidFill>
                  <a:srgbClr val="444746"/>
                </a:solidFill>
                <a:highlight>
                  <a:srgbClr val="F8FAFD"/>
                </a:highlight>
                <a:latin typeface="Courier New"/>
                <a:ea typeface="Courier New"/>
                <a:cs typeface="Courier New"/>
                <a:sym typeface="Courier New"/>
              </a:rPr>
              <a:t> pyspark.sql.functions </a:t>
            </a:r>
            <a:r>
              <a:rPr lang="en" sz="1500">
                <a:solidFill>
                  <a:schemeClr val="dk1"/>
                </a:solidFill>
                <a:latin typeface="Courier New"/>
                <a:ea typeface="Courier New"/>
                <a:cs typeface="Courier New"/>
                <a:sym typeface="Courier New"/>
              </a:rPr>
              <a:t>as</a:t>
            </a:r>
            <a:r>
              <a:rPr lang="en" sz="1500">
                <a:solidFill>
                  <a:srgbClr val="444746"/>
                </a:solidFill>
                <a:highlight>
                  <a:srgbClr val="F8FAFD"/>
                </a:highlight>
                <a:latin typeface="Courier New"/>
                <a:ea typeface="Courier New"/>
                <a:cs typeface="Courier New"/>
                <a:sym typeface="Courier New"/>
              </a:rPr>
              <a:t> F </a:t>
            </a:r>
            <a:endParaRPr sz="15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500">
                <a:solidFill>
                  <a:srgbClr val="444746"/>
                </a:solidFill>
                <a:highlight>
                  <a:srgbClr val="F8FAFD"/>
                </a:highlight>
                <a:latin typeface="Courier New"/>
                <a:ea typeface="Courier New"/>
                <a:cs typeface="Courier New"/>
                <a:sym typeface="Courier New"/>
              </a:rPr>
              <a:t>sc = SparkContext(appName=</a:t>
            </a:r>
            <a:r>
              <a:rPr lang="en" sz="1500">
                <a:solidFill>
                  <a:schemeClr val="dk1"/>
                </a:solidFill>
                <a:latin typeface="Courier New"/>
                <a:ea typeface="Courier New"/>
                <a:cs typeface="Courier New"/>
                <a:sym typeface="Courier New"/>
              </a:rPr>
              <a:t>"CreateDataFrameFromRDD"</a:t>
            </a:r>
            <a:r>
              <a:rPr lang="en" sz="1500">
                <a:solidFill>
                  <a:srgbClr val="444746"/>
                </a:solidFill>
                <a:highlight>
                  <a:srgbClr val="F8FAFD"/>
                </a:highlight>
                <a:latin typeface="Courier New"/>
                <a:ea typeface="Courier New"/>
                <a:cs typeface="Courier New"/>
                <a:sym typeface="Courier New"/>
              </a:rPr>
              <a:t>) </a:t>
            </a:r>
            <a:endParaRPr sz="15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500">
                <a:solidFill>
                  <a:srgbClr val="444746"/>
                </a:solidFill>
                <a:highlight>
                  <a:srgbClr val="F8FAFD"/>
                </a:highlight>
                <a:latin typeface="Courier New"/>
                <a:ea typeface="Courier New"/>
                <a:cs typeface="Courier New"/>
                <a:sym typeface="Courier New"/>
              </a:rPr>
              <a:t>rdd = sc.parallelize([(</a:t>
            </a:r>
            <a:r>
              <a:rPr lang="en" sz="1500">
                <a:solidFill>
                  <a:schemeClr val="dk1"/>
                </a:solidFill>
                <a:latin typeface="Courier New"/>
                <a:ea typeface="Courier New"/>
                <a:cs typeface="Courier New"/>
                <a:sym typeface="Courier New"/>
              </a:rPr>
              <a:t>"Alice"</a:t>
            </a:r>
            <a:r>
              <a:rPr lang="en" sz="1500">
                <a:solidFill>
                  <a:srgbClr val="444746"/>
                </a:solidFill>
                <a:highlight>
                  <a:srgbClr val="F8FAFD"/>
                </a:highlight>
                <a:latin typeface="Courier New"/>
                <a:ea typeface="Courier New"/>
                <a:cs typeface="Courier New"/>
                <a:sym typeface="Courier New"/>
              </a:rPr>
              <a:t>, </a:t>
            </a:r>
            <a:r>
              <a:rPr lang="en" sz="1500">
                <a:solidFill>
                  <a:schemeClr val="dk1"/>
                </a:solidFill>
                <a:latin typeface="Courier New"/>
                <a:ea typeface="Courier New"/>
                <a:cs typeface="Courier New"/>
                <a:sym typeface="Courier New"/>
              </a:rPr>
              <a:t>25</a:t>
            </a:r>
            <a:r>
              <a:rPr lang="en" sz="1500">
                <a:solidFill>
                  <a:srgbClr val="444746"/>
                </a:solidFill>
                <a:highlight>
                  <a:srgbClr val="F8FAFD"/>
                </a:highlight>
                <a:latin typeface="Courier New"/>
                <a:ea typeface="Courier New"/>
                <a:cs typeface="Courier New"/>
                <a:sym typeface="Courier New"/>
              </a:rPr>
              <a:t>), (</a:t>
            </a:r>
            <a:r>
              <a:rPr lang="en" sz="1500">
                <a:solidFill>
                  <a:schemeClr val="dk1"/>
                </a:solidFill>
                <a:latin typeface="Courier New"/>
                <a:ea typeface="Courier New"/>
                <a:cs typeface="Courier New"/>
                <a:sym typeface="Courier New"/>
              </a:rPr>
              <a:t>"Bob"</a:t>
            </a:r>
            <a:r>
              <a:rPr lang="en" sz="1500">
                <a:solidFill>
                  <a:srgbClr val="444746"/>
                </a:solidFill>
                <a:highlight>
                  <a:srgbClr val="F8FAFD"/>
                </a:highlight>
                <a:latin typeface="Courier New"/>
                <a:ea typeface="Courier New"/>
                <a:cs typeface="Courier New"/>
                <a:sym typeface="Courier New"/>
              </a:rPr>
              <a:t>, </a:t>
            </a:r>
            <a:r>
              <a:rPr lang="en" sz="1500">
                <a:solidFill>
                  <a:schemeClr val="dk1"/>
                </a:solidFill>
                <a:latin typeface="Courier New"/>
                <a:ea typeface="Courier New"/>
                <a:cs typeface="Courier New"/>
                <a:sym typeface="Courier New"/>
              </a:rPr>
              <a:t>30</a:t>
            </a:r>
            <a:r>
              <a:rPr lang="en" sz="1500">
                <a:solidFill>
                  <a:srgbClr val="444746"/>
                </a:solidFill>
                <a:highlight>
                  <a:srgbClr val="F8FAFD"/>
                </a:highlight>
                <a:latin typeface="Courier New"/>
                <a:ea typeface="Courier New"/>
                <a:cs typeface="Courier New"/>
                <a:sym typeface="Courier New"/>
              </a:rPr>
              <a:t>)])</a:t>
            </a:r>
            <a:endParaRPr sz="15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500">
                <a:solidFill>
                  <a:srgbClr val="444746"/>
                </a:solidFill>
                <a:highlight>
                  <a:srgbClr val="F8FAFD"/>
                </a:highlight>
                <a:latin typeface="Courier New"/>
                <a:ea typeface="Courier New"/>
                <a:cs typeface="Courier New"/>
                <a:sym typeface="Courier New"/>
              </a:rPr>
              <a:t> df = rdd.toDF([</a:t>
            </a:r>
            <a:r>
              <a:rPr lang="en" sz="1500">
                <a:solidFill>
                  <a:schemeClr val="dk1"/>
                </a:solidFill>
                <a:latin typeface="Courier New"/>
                <a:ea typeface="Courier New"/>
                <a:cs typeface="Courier New"/>
                <a:sym typeface="Courier New"/>
              </a:rPr>
              <a:t>"name"</a:t>
            </a:r>
            <a:r>
              <a:rPr lang="en" sz="1500">
                <a:solidFill>
                  <a:srgbClr val="444746"/>
                </a:solidFill>
                <a:highlight>
                  <a:srgbClr val="F8FAFD"/>
                </a:highlight>
                <a:latin typeface="Courier New"/>
                <a:ea typeface="Courier New"/>
                <a:cs typeface="Courier New"/>
                <a:sym typeface="Courier New"/>
              </a:rPr>
              <a:t>, </a:t>
            </a:r>
            <a:r>
              <a:rPr lang="en" sz="1500">
                <a:solidFill>
                  <a:schemeClr val="dk1"/>
                </a:solidFill>
                <a:latin typeface="Courier New"/>
                <a:ea typeface="Courier New"/>
                <a:cs typeface="Courier New"/>
                <a:sym typeface="Courier New"/>
              </a:rPr>
              <a:t>"age"</a:t>
            </a:r>
            <a:r>
              <a:rPr lang="en" sz="1500">
                <a:solidFill>
                  <a:srgbClr val="444746"/>
                </a:solidFill>
                <a:highlight>
                  <a:srgbClr val="F8FAFD"/>
                </a:highlight>
                <a:latin typeface="Courier New"/>
                <a:ea typeface="Courier New"/>
                <a:cs typeface="Courier New"/>
                <a:sym typeface="Courier New"/>
              </a:rPr>
              <a:t>]) </a:t>
            </a:r>
            <a:endParaRPr sz="15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500">
                <a:solidFill>
                  <a:srgbClr val="444746"/>
                </a:solidFill>
                <a:highlight>
                  <a:srgbClr val="F8FAFD"/>
                </a:highlight>
                <a:latin typeface="Courier New"/>
                <a:ea typeface="Courier New"/>
                <a:cs typeface="Courier New"/>
                <a:sym typeface="Courier New"/>
              </a:rPr>
              <a:t>df.show()</a:t>
            </a:r>
            <a:endParaRPr sz="15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1800"/>
              </a:spcAft>
              <a:buClr>
                <a:schemeClr val="dk1"/>
              </a:buClr>
              <a:buSzPts val="1100"/>
              <a:buFont typeface="Arial"/>
              <a:buNone/>
            </a:pPr>
            <a:endParaRPr sz="1500">
              <a:solidFill>
                <a:srgbClr val="444746"/>
              </a:solidFill>
              <a:highlight>
                <a:srgbClr val="F8FAFD"/>
              </a:highlight>
              <a:latin typeface="Courier New"/>
              <a:ea typeface="Courier New"/>
              <a:cs typeface="Courier New"/>
              <a:sym typeface="Courier New"/>
            </a:endParaRPr>
          </a:p>
        </p:txBody>
      </p:sp>
      <p:pic>
        <p:nvPicPr>
          <p:cNvPr id="591" name="Google Shape;591;g282e807ed40_0_152"/>
          <p:cNvPicPr preferRelativeResize="0"/>
          <p:nvPr/>
        </p:nvPicPr>
        <p:blipFill>
          <a:blip r:embed="rId3">
            <a:alphaModFix/>
          </a:blip>
          <a:stretch>
            <a:fillRect/>
          </a:stretch>
        </p:blipFill>
        <p:spPr>
          <a:xfrm>
            <a:off x="146663" y="3507425"/>
            <a:ext cx="1914525" cy="876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9">
                                            <p:txEl>
                                              <p:pRg st="0" end="0"/>
                                            </p:txEl>
                                          </p:spTgt>
                                        </p:tgtEl>
                                        <p:attrNameLst>
                                          <p:attrName>style.visibility</p:attrName>
                                        </p:attrNameLst>
                                      </p:cBhvr>
                                      <p:to>
                                        <p:strVal val="visible"/>
                                      </p:to>
                                    </p:set>
                                    <p:anim calcmode="lin" valueType="num">
                                      <p:cBhvr additive="base">
                                        <p:cTn id="7" dur="300"/>
                                        <p:tgtEl>
                                          <p:spTgt spid="58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89">
                                            <p:txEl>
                                              <p:pRg st="1" end="1"/>
                                            </p:txEl>
                                          </p:spTgt>
                                        </p:tgtEl>
                                        <p:attrNameLst>
                                          <p:attrName>style.visibility</p:attrName>
                                        </p:attrNameLst>
                                      </p:cBhvr>
                                      <p:to>
                                        <p:strVal val="visible"/>
                                      </p:to>
                                    </p:set>
                                    <p:anim calcmode="lin" valueType="num">
                                      <p:cBhvr additive="base">
                                        <p:cTn id="12" dur="300"/>
                                        <p:tgtEl>
                                          <p:spTgt spid="58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89">
                                            <p:txEl>
                                              <p:pRg st="2" end="2"/>
                                            </p:txEl>
                                          </p:spTgt>
                                        </p:tgtEl>
                                        <p:attrNameLst>
                                          <p:attrName>style.visibility</p:attrName>
                                        </p:attrNameLst>
                                      </p:cBhvr>
                                      <p:to>
                                        <p:strVal val="visible"/>
                                      </p:to>
                                    </p:set>
                                    <p:anim calcmode="lin" valueType="num">
                                      <p:cBhvr additive="base">
                                        <p:cTn id="17" dur="300"/>
                                        <p:tgtEl>
                                          <p:spTgt spid="58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89">
                                            <p:txEl>
                                              <p:pRg st="3" end="3"/>
                                            </p:txEl>
                                          </p:spTgt>
                                        </p:tgtEl>
                                        <p:attrNameLst>
                                          <p:attrName>style.visibility</p:attrName>
                                        </p:attrNameLst>
                                      </p:cBhvr>
                                      <p:to>
                                        <p:strVal val="visible"/>
                                      </p:to>
                                    </p:set>
                                    <p:anim calcmode="lin" valueType="num">
                                      <p:cBhvr additive="base">
                                        <p:cTn id="22" dur="300"/>
                                        <p:tgtEl>
                                          <p:spTgt spid="58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89">
                                            <p:txEl>
                                              <p:pRg st="4" end="4"/>
                                            </p:txEl>
                                          </p:spTgt>
                                        </p:tgtEl>
                                        <p:attrNameLst>
                                          <p:attrName>style.visibility</p:attrName>
                                        </p:attrNameLst>
                                      </p:cBhvr>
                                      <p:to>
                                        <p:strVal val="visible"/>
                                      </p:to>
                                    </p:set>
                                    <p:anim calcmode="lin" valueType="num">
                                      <p:cBhvr additive="base">
                                        <p:cTn id="27" dur="300"/>
                                        <p:tgtEl>
                                          <p:spTgt spid="58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89">
                                            <p:txEl>
                                              <p:pRg st="5" end="5"/>
                                            </p:txEl>
                                          </p:spTgt>
                                        </p:tgtEl>
                                        <p:attrNameLst>
                                          <p:attrName>style.visibility</p:attrName>
                                        </p:attrNameLst>
                                      </p:cBhvr>
                                      <p:to>
                                        <p:strVal val="visible"/>
                                      </p:to>
                                    </p:set>
                                    <p:anim calcmode="lin" valueType="num">
                                      <p:cBhvr additive="base">
                                        <p:cTn id="32" dur="300"/>
                                        <p:tgtEl>
                                          <p:spTgt spid="58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g282e807ed40_0_163"/>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7" name="Google Shape;597;g282e807ed40_0_163"/>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Create dataframes from Pandas dataframes </a:t>
            </a:r>
            <a:endParaRPr sz="2400">
              <a:solidFill>
                <a:srgbClr val="FFFFFF"/>
              </a:solidFill>
            </a:endParaRPr>
          </a:p>
        </p:txBody>
      </p:sp>
      <p:sp>
        <p:nvSpPr>
          <p:cNvPr id="598" name="Google Shape;598;g282e807ed40_0_163"/>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000">
                <a:solidFill>
                  <a:srgbClr val="1F1F1F"/>
                </a:solidFill>
                <a:highlight>
                  <a:srgbClr val="FFFFFF"/>
                </a:highlight>
              </a:rPr>
              <a:t>To create a DataFrame from a Pandas DataFrame in Spark, you can use the </a:t>
            </a:r>
            <a:r>
              <a:rPr lang="en" sz="2000">
                <a:solidFill>
                  <a:srgbClr val="1F1F1F"/>
                </a:solidFill>
                <a:highlight>
                  <a:srgbClr val="FFFFFF"/>
                </a:highlight>
                <a:latin typeface="Courier New"/>
                <a:ea typeface="Courier New"/>
                <a:cs typeface="Courier New"/>
                <a:sym typeface="Courier New"/>
              </a:rPr>
              <a:t>spark.createDataFrame()</a:t>
            </a:r>
            <a:r>
              <a:rPr lang="en" sz="2000">
                <a:solidFill>
                  <a:srgbClr val="1F1F1F"/>
                </a:solidFill>
                <a:highlight>
                  <a:srgbClr val="FFFFFF"/>
                </a:highlight>
              </a:rPr>
              <a:t> method. The </a:t>
            </a:r>
            <a:r>
              <a:rPr lang="en" sz="2000">
                <a:solidFill>
                  <a:srgbClr val="1F1F1F"/>
                </a:solidFill>
                <a:highlight>
                  <a:srgbClr val="FFFFFF"/>
                </a:highlight>
                <a:latin typeface="Courier New"/>
                <a:ea typeface="Courier New"/>
                <a:cs typeface="Courier New"/>
                <a:sym typeface="Courier New"/>
              </a:rPr>
              <a:t>spark.createDataFrame()</a:t>
            </a:r>
            <a:r>
              <a:rPr lang="en" sz="2000">
                <a:solidFill>
                  <a:srgbClr val="1F1F1F"/>
                </a:solidFill>
                <a:highlight>
                  <a:srgbClr val="FFFFFF"/>
                </a:highlight>
              </a:rPr>
              <a:t> method takes a Pandas DataFrame as an argument and returns a Spark DataFrame.</a:t>
            </a:r>
            <a:endParaRPr sz="2000">
              <a:solidFill>
                <a:srgbClr val="1F1F1F"/>
              </a:solidFill>
              <a:highlight>
                <a:srgbClr val="FFFFFF"/>
              </a:highlight>
            </a:endParaRPr>
          </a:p>
          <a:p>
            <a:pPr marL="0" lvl="0" indent="0" algn="l" rtl="0">
              <a:lnSpc>
                <a:spcPct val="115000"/>
              </a:lnSpc>
              <a:spcBef>
                <a:spcPts val="1800"/>
              </a:spcBef>
              <a:spcAft>
                <a:spcPts val="1800"/>
              </a:spcAft>
              <a:buClr>
                <a:schemeClr val="dk1"/>
              </a:buClr>
              <a:buSzPts val="1100"/>
              <a:buFont typeface="Arial"/>
              <a:buNone/>
            </a:pPr>
            <a:r>
              <a:rPr lang="en" sz="2000">
                <a:solidFill>
                  <a:srgbClr val="1F1F1F"/>
                </a:solidFill>
                <a:highlight>
                  <a:srgbClr val="FFFFFF"/>
                </a:highlight>
              </a:rPr>
              <a:t>For example, the following code creates a Spark DataFrame from a Pandas DataFrame:</a:t>
            </a: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8">
                                            <p:txEl>
                                              <p:pRg st="0" end="0"/>
                                            </p:txEl>
                                          </p:spTgt>
                                        </p:tgtEl>
                                        <p:attrNameLst>
                                          <p:attrName>style.visibility</p:attrName>
                                        </p:attrNameLst>
                                      </p:cBhvr>
                                      <p:to>
                                        <p:strVal val="visible"/>
                                      </p:to>
                                    </p:set>
                                    <p:anim calcmode="lin" valueType="num">
                                      <p:cBhvr additive="base">
                                        <p:cTn id="7" dur="300"/>
                                        <p:tgtEl>
                                          <p:spTgt spid="59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98">
                                            <p:txEl>
                                              <p:pRg st="1" end="1"/>
                                            </p:txEl>
                                          </p:spTgt>
                                        </p:tgtEl>
                                        <p:attrNameLst>
                                          <p:attrName>style.visibility</p:attrName>
                                        </p:attrNameLst>
                                      </p:cBhvr>
                                      <p:to>
                                        <p:strVal val="visible"/>
                                      </p:to>
                                    </p:set>
                                    <p:anim calcmode="lin" valueType="num">
                                      <p:cBhvr additive="base">
                                        <p:cTn id="12" dur="300"/>
                                        <p:tgtEl>
                                          <p:spTgt spid="59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g282e807ed40_0_173"/>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5" name="Google Shape;605;g282e807ed40_0_173"/>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Create dataframes from Pandas dataframes </a:t>
            </a:r>
            <a:endParaRPr sz="2400">
              <a:solidFill>
                <a:srgbClr val="FFFFFF"/>
              </a:solidFill>
            </a:endParaRPr>
          </a:p>
        </p:txBody>
      </p:sp>
      <p:sp>
        <p:nvSpPr>
          <p:cNvPr id="606" name="Google Shape;606;g282e807ed40_0_173"/>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1800" dirty="0">
                <a:solidFill>
                  <a:schemeClr val="dk1"/>
                </a:solidFill>
                <a:latin typeface="Courier New"/>
                <a:ea typeface="Courier New"/>
                <a:cs typeface="Courier New"/>
                <a:sym typeface="Courier New"/>
              </a:rPr>
              <a:t>import</a:t>
            </a:r>
            <a:r>
              <a:rPr lang="en" sz="1800" dirty="0">
                <a:solidFill>
                  <a:srgbClr val="444746"/>
                </a:solidFill>
                <a:highlight>
                  <a:srgbClr val="F8FAFD"/>
                </a:highlight>
                <a:latin typeface="Courier New"/>
                <a:ea typeface="Courier New"/>
                <a:cs typeface="Courier New"/>
                <a:sym typeface="Courier New"/>
              </a:rPr>
              <a:t> pandas </a:t>
            </a:r>
            <a:r>
              <a:rPr lang="en" sz="1800" dirty="0">
                <a:solidFill>
                  <a:schemeClr val="dk1"/>
                </a:solidFill>
                <a:latin typeface="Courier New"/>
                <a:ea typeface="Courier New"/>
                <a:cs typeface="Courier New"/>
                <a:sym typeface="Courier New"/>
              </a:rPr>
              <a:t>as</a:t>
            </a:r>
            <a:r>
              <a:rPr lang="en" sz="1800" dirty="0">
                <a:solidFill>
                  <a:srgbClr val="444746"/>
                </a:solidFill>
                <a:highlight>
                  <a:srgbClr val="F8FAFD"/>
                </a:highlight>
                <a:latin typeface="Courier New"/>
                <a:ea typeface="Courier New"/>
                <a:cs typeface="Courier New"/>
                <a:sym typeface="Courier New"/>
              </a:rPr>
              <a:t> pd </a:t>
            </a:r>
            <a:endParaRPr sz="1800" dirty="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dirty="0">
                <a:solidFill>
                  <a:schemeClr val="dk1"/>
                </a:solidFill>
                <a:latin typeface="Courier New"/>
                <a:ea typeface="Courier New"/>
                <a:cs typeface="Courier New"/>
                <a:sym typeface="Courier New"/>
              </a:rPr>
              <a:t>from</a:t>
            </a:r>
            <a:r>
              <a:rPr lang="en" sz="1800" dirty="0">
                <a:solidFill>
                  <a:srgbClr val="444746"/>
                </a:solidFill>
                <a:highlight>
                  <a:srgbClr val="F8FAFD"/>
                </a:highlight>
                <a:latin typeface="Courier New"/>
                <a:ea typeface="Courier New"/>
                <a:cs typeface="Courier New"/>
                <a:sym typeface="Courier New"/>
              </a:rPr>
              <a:t> pyspark.sql </a:t>
            </a:r>
            <a:r>
              <a:rPr lang="en" sz="1800" dirty="0">
                <a:solidFill>
                  <a:schemeClr val="dk1"/>
                </a:solidFill>
                <a:latin typeface="Courier New"/>
                <a:ea typeface="Courier New"/>
                <a:cs typeface="Courier New"/>
                <a:sym typeface="Courier New"/>
              </a:rPr>
              <a:t>import</a:t>
            </a:r>
            <a:r>
              <a:rPr lang="en" sz="1800" dirty="0">
                <a:solidFill>
                  <a:srgbClr val="444746"/>
                </a:solidFill>
                <a:highlight>
                  <a:srgbClr val="F8FAFD"/>
                </a:highlight>
                <a:latin typeface="Courier New"/>
                <a:ea typeface="Courier New"/>
                <a:cs typeface="Courier New"/>
                <a:sym typeface="Courier New"/>
              </a:rPr>
              <a:t> SparkSession </a:t>
            </a:r>
            <a:endParaRPr sz="1800" dirty="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dirty="0">
                <a:solidFill>
                  <a:schemeClr val="dk1"/>
                </a:solidFill>
                <a:latin typeface="Courier New"/>
                <a:ea typeface="Courier New"/>
                <a:cs typeface="Courier New"/>
                <a:sym typeface="Courier New"/>
              </a:rPr>
              <a:t># Create a Pandas DataFrame</a:t>
            </a:r>
            <a:r>
              <a:rPr lang="en" sz="1800" dirty="0">
                <a:solidFill>
                  <a:srgbClr val="444746"/>
                </a:solidFill>
                <a:highlight>
                  <a:srgbClr val="F8FAFD"/>
                </a:highlight>
                <a:latin typeface="Courier New"/>
                <a:ea typeface="Courier New"/>
                <a:cs typeface="Courier New"/>
                <a:sym typeface="Courier New"/>
              </a:rPr>
              <a:t> </a:t>
            </a:r>
            <a:endParaRPr sz="1800" dirty="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dirty="0">
                <a:solidFill>
                  <a:srgbClr val="444746"/>
                </a:solidFill>
                <a:highlight>
                  <a:srgbClr val="F8FAFD"/>
                </a:highlight>
                <a:latin typeface="Courier New"/>
                <a:ea typeface="Courier New"/>
                <a:cs typeface="Courier New"/>
                <a:sym typeface="Courier New"/>
              </a:rPr>
              <a:t>pdf = pd.DataFrame({</a:t>
            </a:r>
            <a:r>
              <a:rPr lang="en" sz="1800" dirty="0">
                <a:solidFill>
                  <a:schemeClr val="dk1"/>
                </a:solidFill>
                <a:latin typeface="Courier New"/>
                <a:ea typeface="Courier New"/>
                <a:cs typeface="Courier New"/>
                <a:sym typeface="Courier New"/>
              </a:rPr>
              <a:t>'name'</a:t>
            </a:r>
            <a:r>
              <a:rPr lang="en" sz="1800" dirty="0">
                <a:solidFill>
                  <a:srgbClr val="444746"/>
                </a:solidFill>
                <a:highlight>
                  <a:srgbClr val="F8FAFD"/>
                </a:highlight>
                <a:latin typeface="Courier New"/>
                <a:ea typeface="Courier New"/>
                <a:cs typeface="Courier New"/>
                <a:sym typeface="Courier New"/>
              </a:rPr>
              <a:t>: [</a:t>
            </a:r>
            <a:r>
              <a:rPr lang="en" sz="1800" dirty="0">
                <a:solidFill>
                  <a:schemeClr val="dk1"/>
                </a:solidFill>
                <a:latin typeface="Courier New"/>
                <a:ea typeface="Courier New"/>
                <a:cs typeface="Courier New"/>
                <a:sym typeface="Courier New"/>
              </a:rPr>
              <a:t>'Alice'</a:t>
            </a:r>
            <a:r>
              <a:rPr lang="en" sz="1800" dirty="0">
                <a:solidFill>
                  <a:srgbClr val="444746"/>
                </a:solidFill>
                <a:highlight>
                  <a:srgbClr val="F8FAFD"/>
                </a:highlight>
                <a:latin typeface="Courier New"/>
                <a:ea typeface="Courier New"/>
                <a:cs typeface="Courier New"/>
                <a:sym typeface="Courier New"/>
              </a:rPr>
              <a:t>, </a:t>
            </a:r>
            <a:r>
              <a:rPr lang="en" sz="1800" dirty="0">
                <a:solidFill>
                  <a:schemeClr val="dk1"/>
                </a:solidFill>
                <a:latin typeface="Courier New"/>
                <a:ea typeface="Courier New"/>
                <a:cs typeface="Courier New"/>
                <a:sym typeface="Courier New"/>
              </a:rPr>
              <a:t>'Bob'</a:t>
            </a:r>
            <a:r>
              <a:rPr lang="en" sz="1800" dirty="0">
                <a:solidFill>
                  <a:srgbClr val="444746"/>
                </a:solidFill>
                <a:highlight>
                  <a:srgbClr val="F8FAFD"/>
                </a:highlight>
                <a:latin typeface="Courier New"/>
                <a:ea typeface="Courier New"/>
                <a:cs typeface="Courier New"/>
                <a:sym typeface="Courier New"/>
              </a:rPr>
              <a:t>], </a:t>
            </a:r>
            <a:r>
              <a:rPr lang="en" sz="1800" dirty="0">
                <a:solidFill>
                  <a:schemeClr val="dk1"/>
                </a:solidFill>
                <a:latin typeface="Courier New"/>
                <a:ea typeface="Courier New"/>
                <a:cs typeface="Courier New"/>
                <a:sym typeface="Courier New"/>
              </a:rPr>
              <a:t>'age'</a:t>
            </a:r>
            <a:r>
              <a:rPr lang="en" sz="1800" dirty="0">
                <a:solidFill>
                  <a:srgbClr val="444746"/>
                </a:solidFill>
                <a:highlight>
                  <a:srgbClr val="F8FAFD"/>
                </a:highlight>
                <a:latin typeface="Courier New"/>
                <a:ea typeface="Courier New"/>
                <a:cs typeface="Courier New"/>
                <a:sym typeface="Courier New"/>
              </a:rPr>
              <a:t>: [</a:t>
            </a:r>
            <a:r>
              <a:rPr lang="en" sz="1800" dirty="0">
                <a:solidFill>
                  <a:schemeClr val="dk1"/>
                </a:solidFill>
                <a:latin typeface="Courier New"/>
                <a:ea typeface="Courier New"/>
                <a:cs typeface="Courier New"/>
                <a:sym typeface="Courier New"/>
              </a:rPr>
              <a:t>25</a:t>
            </a:r>
            <a:r>
              <a:rPr lang="en" sz="1800" dirty="0">
                <a:solidFill>
                  <a:srgbClr val="444746"/>
                </a:solidFill>
                <a:highlight>
                  <a:srgbClr val="F8FAFD"/>
                </a:highlight>
                <a:latin typeface="Courier New"/>
                <a:ea typeface="Courier New"/>
                <a:cs typeface="Courier New"/>
                <a:sym typeface="Courier New"/>
              </a:rPr>
              <a:t>, </a:t>
            </a:r>
            <a:r>
              <a:rPr lang="en" sz="1800" dirty="0">
                <a:solidFill>
                  <a:schemeClr val="dk1"/>
                </a:solidFill>
                <a:latin typeface="Courier New"/>
                <a:ea typeface="Courier New"/>
                <a:cs typeface="Courier New"/>
                <a:sym typeface="Courier New"/>
              </a:rPr>
              <a:t>30</a:t>
            </a:r>
            <a:r>
              <a:rPr lang="en" sz="1800" dirty="0">
                <a:solidFill>
                  <a:srgbClr val="444746"/>
                </a:solidFill>
                <a:highlight>
                  <a:srgbClr val="F8FAFD"/>
                </a:highlight>
                <a:latin typeface="Courier New"/>
                <a:ea typeface="Courier New"/>
                <a:cs typeface="Courier New"/>
                <a:sym typeface="Courier New"/>
              </a:rPr>
              <a:t>]}) </a:t>
            </a:r>
            <a:endParaRPr sz="1800" dirty="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dirty="0">
                <a:solidFill>
                  <a:schemeClr val="dk1"/>
                </a:solidFill>
                <a:latin typeface="Courier New"/>
                <a:ea typeface="Courier New"/>
                <a:cs typeface="Courier New"/>
                <a:sym typeface="Courier New"/>
              </a:rPr>
              <a:t># Create a SparkSession</a:t>
            </a:r>
            <a:endParaRPr sz="1800" dirty="0">
              <a:solidFill>
                <a:schemeClr val="dk1"/>
              </a:solidFill>
              <a:latin typeface="Courier New"/>
              <a:ea typeface="Courier New"/>
              <a:cs typeface="Courier New"/>
              <a:sym typeface="Courier New"/>
            </a:endParaRPr>
          </a:p>
          <a:p>
            <a:pPr marL="0" lvl="0" indent="0" algn="l" rtl="0">
              <a:lnSpc>
                <a:spcPct val="115000"/>
              </a:lnSpc>
              <a:spcBef>
                <a:spcPts val="1800"/>
              </a:spcBef>
              <a:spcAft>
                <a:spcPts val="1800"/>
              </a:spcAft>
              <a:buClr>
                <a:schemeClr val="dk1"/>
              </a:buClr>
              <a:buSzPts val="1100"/>
              <a:buFont typeface="Arial"/>
              <a:buNone/>
            </a:pPr>
            <a:r>
              <a:rPr lang="en" sz="1800" dirty="0">
                <a:solidFill>
                  <a:srgbClr val="444746"/>
                </a:solidFill>
                <a:highlight>
                  <a:srgbClr val="F8FAFD"/>
                </a:highlight>
                <a:latin typeface="Courier New"/>
                <a:ea typeface="Courier New"/>
                <a:cs typeface="Courier New"/>
                <a:sym typeface="Courier New"/>
              </a:rPr>
              <a:t>spark = SparkSession.builder.getOrCreate()</a:t>
            </a:r>
            <a:endParaRPr sz="1800" dirty="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6">
                                            <p:txEl>
                                              <p:pRg st="0" end="0"/>
                                            </p:txEl>
                                          </p:spTgt>
                                        </p:tgtEl>
                                        <p:attrNameLst>
                                          <p:attrName>style.visibility</p:attrName>
                                        </p:attrNameLst>
                                      </p:cBhvr>
                                      <p:to>
                                        <p:strVal val="visible"/>
                                      </p:to>
                                    </p:set>
                                    <p:anim calcmode="lin" valueType="num">
                                      <p:cBhvr additive="base">
                                        <p:cTn id="7" dur="300"/>
                                        <p:tgtEl>
                                          <p:spTgt spid="60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06">
                                            <p:txEl>
                                              <p:pRg st="1" end="1"/>
                                            </p:txEl>
                                          </p:spTgt>
                                        </p:tgtEl>
                                        <p:attrNameLst>
                                          <p:attrName>style.visibility</p:attrName>
                                        </p:attrNameLst>
                                      </p:cBhvr>
                                      <p:to>
                                        <p:strVal val="visible"/>
                                      </p:to>
                                    </p:set>
                                    <p:anim calcmode="lin" valueType="num">
                                      <p:cBhvr additive="base">
                                        <p:cTn id="12" dur="300"/>
                                        <p:tgtEl>
                                          <p:spTgt spid="60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06">
                                            <p:txEl>
                                              <p:pRg st="2" end="2"/>
                                            </p:txEl>
                                          </p:spTgt>
                                        </p:tgtEl>
                                        <p:attrNameLst>
                                          <p:attrName>style.visibility</p:attrName>
                                        </p:attrNameLst>
                                      </p:cBhvr>
                                      <p:to>
                                        <p:strVal val="visible"/>
                                      </p:to>
                                    </p:set>
                                    <p:anim calcmode="lin" valueType="num">
                                      <p:cBhvr additive="base">
                                        <p:cTn id="17" dur="300"/>
                                        <p:tgtEl>
                                          <p:spTgt spid="60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06">
                                            <p:txEl>
                                              <p:pRg st="3" end="3"/>
                                            </p:txEl>
                                          </p:spTgt>
                                        </p:tgtEl>
                                        <p:attrNameLst>
                                          <p:attrName>style.visibility</p:attrName>
                                        </p:attrNameLst>
                                      </p:cBhvr>
                                      <p:to>
                                        <p:strVal val="visible"/>
                                      </p:to>
                                    </p:set>
                                    <p:anim calcmode="lin" valueType="num">
                                      <p:cBhvr additive="base">
                                        <p:cTn id="22" dur="300"/>
                                        <p:tgtEl>
                                          <p:spTgt spid="60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06">
                                            <p:txEl>
                                              <p:pRg st="4" end="4"/>
                                            </p:txEl>
                                          </p:spTgt>
                                        </p:tgtEl>
                                        <p:attrNameLst>
                                          <p:attrName>style.visibility</p:attrName>
                                        </p:attrNameLst>
                                      </p:cBhvr>
                                      <p:to>
                                        <p:strVal val="visible"/>
                                      </p:to>
                                    </p:set>
                                    <p:anim calcmode="lin" valueType="num">
                                      <p:cBhvr additive="base">
                                        <p:cTn id="27" dur="300"/>
                                        <p:tgtEl>
                                          <p:spTgt spid="60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06">
                                            <p:txEl>
                                              <p:pRg st="5" end="5"/>
                                            </p:txEl>
                                          </p:spTgt>
                                        </p:tgtEl>
                                        <p:attrNameLst>
                                          <p:attrName>style.visibility</p:attrName>
                                        </p:attrNameLst>
                                      </p:cBhvr>
                                      <p:to>
                                        <p:strVal val="visible"/>
                                      </p:to>
                                    </p:set>
                                    <p:anim calcmode="lin" valueType="num">
                                      <p:cBhvr additive="base">
                                        <p:cTn id="32" dur="300"/>
                                        <p:tgtEl>
                                          <p:spTgt spid="60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g282e807ed40_0_182"/>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3" name="Google Shape;613;g282e807ed40_0_182"/>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Create dataframes from Pandas dataframes </a:t>
            </a:r>
            <a:endParaRPr sz="2400">
              <a:solidFill>
                <a:srgbClr val="FFFFFF"/>
              </a:solidFill>
            </a:endParaRPr>
          </a:p>
        </p:txBody>
      </p:sp>
      <p:sp>
        <p:nvSpPr>
          <p:cNvPr id="614" name="Google Shape;614;g282e807ed40_0_182"/>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1800">
                <a:solidFill>
                  <a:srgbClr val="444746"/>
                </a:solidFill>
                <a:highlight>
                  <a:srgbClr val="F8FAFD"/>
                </a:highlight>
                <a:latin typeface="Courier New"/>
                <a:ea typeface="Courier New"/>
                <a:cs typeface="Courier New"/>
                <a:sym typeface="Courier New"/>
              </a:rPr>
              <a:t> </a:t>
            </a:r>
            <a:r>
              <a:rPr lang="en" sz="1800">
                <a:solidFill>
                  <a:schemeClr val="dk1"/>
                </a:solidFill>
                <a:latin typeface="Courier New"/>
                <a:ea typeface="Courier New"/>
                <a:cs typeface="Courier New"/>
                <a:sym typeface="Courier New"/>
              </a:rPr>
              <a:t># Create a Spark DataFrame from the Pandas DataFrame</a:t>
            </a:r>
            <a:endParaRPr sz="1800">
              <a:solidFill>
                <a:schemeClr val="dk1"/>
              </a:solidFill>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a:solidFill>
                  <a:srgbClr val="444746"/>
                </a:solidFill>
                <a:highlight>
                  <a:srgbClr val="F8FAFD"/>
                </a:highlight>
                <a:latin typeface="Courier New"/>
                <a:ea typeface="Courier New"/>
                <a:cs typeface="Courier New"/>
                <a:sym typeface="Courier New"/>
              </a:rPr>
              <a:t> sdf = spark.createDataFrame(pdf) </a:t>
            </a:r>
            <a:endParaRPr sz="18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0"/>
              </a:spcAft>
              <a:buClr>
                <a:schemeClr val="dk1"/>
              </a:buClr>
              <a:buSzPts val="1100"/>
              <a:buFont typeface="Arial"/>
              <a:buNone/>
            </a:pPr>
            <a:r>
              <a:rPr lang="en" sz="1800">
                <a:solidFill>
                  <a:schemeClr val="dk1"/>
                </a:solidFill>
                <a:latin typeface="Courier New"/>
                <a:ea typeface="Courier New"/>
                <a:cs typeface="Courier New"/>
                <a:sym typeface="Courier New"/>
              </a:rPr>
              <a:t># Display the Spark DataFrame</a:t>
            </a:r>
            <a:r>
              <a:rPr lang="en" sz="1800">
                <a:solidFill>
                  <a:srgbClr val="444746"/>
                </a:solidFill>
                <a:highlight>
                  <a:srgbClr val="F8FAFD"/>
                </a:highlight>
                <a:latin typeface="Courier New"/>
                <a:ea typeface="Courier New"/>
                <a:cs typeface="Courier New"/>
                <a:sym typeface="Courier New"/>
              </a:rPr>
              <a:t> </a:t>
            </a:r>
            <a:endParaRPr sz="1800">
              <a:solidFill>
                <a:srgbClr val="444746"/>
              </a:solidFill>
              <a:highlight>
                <a:srgbClr val="F8FAFD"/>
              </a:highlight>
              <a:latin typeface="Courier New"/>
              <a:ea typeface="Courier New"/>
              <a:cs typeface="Courier New"/>
              <a:sym typeface="Courier New"/>
            </a:endParaRPr>
          </a:p>
          <a:p>
            <a:pPr marL="0" lvl="0" indent="0" algn="l" rtl="0">
              <a:lnSpc>
                <a:spcPct val="115000"/>
              </a:lnSpc>
              <a:spcBef>
                <a:spcPts val="1800"/>
              </a:spcBef>
              <a:spcAft>
                <a:spcPts val="1800"/>
              </a:spcAft>
              <a:buClr>
                <a:schemeClr val="dk1"/>
              </a:buClr>
              <a:buSzPts val="1100"/>
              <a:buFont typeface="Arial"/>
              <a:buNone/>
            </a:pPr>
            <a:r>
              <a:rPr lang="en" sz="1800">
                <a:solidFill>
                  <a:srgbClr val="444746"/>
                </a:solidFill>
                <a:highlight>
                  <a:srgbClr val="F8FAFD"/>
                </a:highlight>
                <a:latin typeface="Courier New"/>
                <a:ea typeface="Courier New"/>
                <a:cs typeface="Courier New"/>
                <a:sym typeface="Courier New"/>
              </a:rPr>
              <a:t>sdf.show()</a:t>
            </a:r>
            <a:endParaRPr sz="1800">
              <a:solidFill>
                <a:srgbClr val="1F1F1F"/>
              </a:solidFill>
              <a:highlight>
                <a:srgbClr val="FFFFFF"/>
              </a:highlight>
            </a:endParaRPr>
          </a:p>
        </p:txBody>
      </p:sp>
      <p:pic>
        <p:nvPicPr>
          <p:cNvPr id="616" name="Google Shape;616;g282e807ed40_0_182"/>
          <p:cNvPicPr preferRelativeResize="0"/>
          <p:nvPr/>
        </p:nvPicPr>
        <p:blipFill>
          <a:blip r:embed="rId3">
            <a:alphaModFix/>
          </a:blip>
          <a:stretch>
            <a:fillRect/>
          </a:stretch>
        </p:blipFill>
        <p:spPr>
          <a:xfrm>
            <a:off x="314213" y="3256125"/>
            <a:ext cx="1914525" cy="876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
                                            <p:txEl>
                                              <p:pRg st="0" end="0"/>
                                            </p:txEl>
                                          </p:spTgt>
                                        </p:tgtEl>
                                        <p:attrNameLst>
                                          <p:attrName>style.visibility</p:attrName>
                                        </p:attrNameLst>
                                      </p:cBhvr>
                                      <p:to>
                                        <p:strVal val="visible"/>
                                      </p:to>
                                    </p:set>
                                    <p:anim calcmode="lin" valueType="num">
                                      <p:cBhvr additive="base">
                                        <p:cTn id="7" dur="300"/>
                                        <p:tgtEl>
                                          <p:spTgt spid="6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14">
                                            <p:txEl>
                                              <p:pRg st="1" end="1"/>
                                            </p:txEl>
                                          </p:spTgt>
                                        </p:tgtEl>
                                        <p:attrNameLst>
                                          <p:attrName>style.visibility</p:attrName>
                                        </p:attrNameLst>
                                      </p:cBhvr>
                                      <p:to>
                                        <p:strVal val="visible"/>
                                      </p:to>
                                    </p:set>
                                    <p:anim calcmode="lin" valueType="num">
                                      <p:cBhvr additive="base">
                                        <p:cTn id="12" dur="300"/>
                                        <p:tgtEl>
                                          <p:spTgt spid="6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14">
                                            <p:txEl>
                                              <p:pRg st="2" end="2"/>
                                            </p:txEl>
                                          </p:spTgt>
                                        </p:tgtEl>
                                        <p:attrNameLst>
                                          <p:attrName>style.visibility</p:attrName>
                                        </p:attrNameLst>
                                      </p:cBhvr>
                                      <p:to>
                                        <p:strVal val="visible"/>
                                      </p:to>
                                    </p:set>
                                    <p:anim calcmode="lin" valueType="num">
                                      <p:cBhvr additive="base">
                                        <p:cTn id="17" dur="300"/>
                                        <p:tgtEl>
                                          <p:spTgt spid="6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14">
                                            <p:txEl>
                                              <p:pRg st="3" end="3"/>
                                            </p:txEl>
                                          </p:spTgt>
                                        </p:tgtEl>
                                        <p:attrNameLst>
                                          <p:attrName>style.visibility</p:attrName>
                                        </p:attrNameLst>
                                      </p:cBhvr>
                                      <p:to>
                                        <p:strVal val="visible"/>
                                      </p:to>
                                    </p:set>
                                    <p:anim calcmode="lin" valueType="num">
                                      <p:cBhvr additive="base">
                                        <p:cTn id="22" dur="300"/>
                                        <p:tgtEl>
                                          <p:spTgt spid="6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g27d2bce3ac4_1_158"/>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22" name="Google Shape;622;g27d2bce3ac4_1_158"/>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Polling Questions</a:t>
            </a:r>
            <a:endParaRPr sz="2400">
              <a:solidFill>
                <a:srgbClr val="FFFFFF"/>
              </a:solidFill>
            </a:endParaRPr>
          </a:p>
        </p:txBody>
      </p:sp>
      <p:pic>
        <p:nvPicPr>
          <p:cNvPr id="623" name="Google Shape;623;g27d2bce3ac4_1_158"/>
          <p:cNvPicPr preferRelativeResize="0"/>
          <p:nvPr/>
        </p:nvPicPr>
        <p:blipFill rotWithShape="1">
          <a:blip r:embed="rId3">
            <a:alphaModFix amt="26000"/>
          </a:blip>
          <a:srcRect/>
          <a:stretch/>
        </p:blipFill>
        <p:spPr>
          <a:xfrm>
            <a:off x="2000250" y="636900"/>
            <a:ext cx="4506601" cy="4506601"/>
          </a:xfrm>
          <a:prstGeom prst="rect">
            <a:avLst/>
          </a:prstGeom>
          <a:noFill/>
          <a:ln>
            <a:noFill/>
          </a:ln>
        </p:spPr>
      </p:pic>
      <p:sp>
        <p:nvSpPr>
          <p:cNvPr id="624" name="Google Shape;624;g27d2bce3ac4_1_158"/>
          <p:cNvSpPr txBox="1"/>
          <p:nvPr/>
        </p:nvSpPr>
        <p:spPr>
          <a:xfrm>
            <a:off x="0" y="814700"/>
            <a:ext cx="8833800" cy="41766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What is the primary advantage of using Paired RDDs in Apache Spark?</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Paired RDDs allow for easier transformation operations on text data.</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Paired RDDs enable the use of key-value pairs, useful for aggregation and grouping operations.</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Paired RDDs reduce the memory footprint of your Spark application.</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Paired RDDs can only be used with structured data formats.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In the context of Spark, what does the term "Word Count Example" typically refer to?</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A built-in function to count the number of words in a Spark RDD.</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A widely used Spark application demonstrating the basic principles of Spark, which counts the frequency of words in a text document.</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A Spark transformation to count the number of unique words in an RDD.</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A Spark RDD operation used to calculate the average word length in a text document.</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g282e807ed40_0_221"/>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1" name="Google Shape;631;g282e807ed40_0_221"/>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Polling Questions</a:t>
            </a:r>
            <a:endParaRPr sz="2400">
              <a:solidFill>
                <a:srgbClr val="FFFFFF"/>
              </a:solidFill>
            </a:endParaRPr>
          </a:p>
        </p:txBody>
      </p:sp>
      <p:pic>
        <p:nvPicPr>
          <p:cNvPr id="632" name="Google Shape;632;g282e807ed40_0_221"/>
          <p:cNvPicPr preferRelativeResize="0"/>
          <p:nvPr/>
        </p:nvPicPr>
        <p:blipFill rotWithShape="1">
          <a:blip r:embed="rId3">
            <a:alphaModFix amt="26000"/>
          </a:blip>
          <a:srcRect/>
          <a:stretch/>
        </p:blipFill>
        <p:spPr>
          <a:xfrm>
            <a:off x="2000250" y="636900"/>
            <a:ext cx="4506601" cy="4506601"/>
          </a:xfrm>
          <a:prstGeom prst="rect">
            <a:avLst/>
          </a:prstGeom>
          <a:noFill/>
          <a:ln>
            <a:noFill/>
          </a:ln>
        </p:spPr>
      </p:pic>
      <p:sp>
        <p:nvSpPr>
          <p:cNvPr id="633" name="Google Shape;633;g282e807ed40_0_221"/>
          <p:cNvSpPr txBox="1"/>
          <p:nvPr/>
        </p:nvSpPr>
        <p:spPr>
          <a:xfrm>
            <a:off x="0" y="814700"/>
            <a:ext cx="8833800" cy="41766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None/>
            </a:pPr>
            <a:r>
              <a:rPr lang="en" sz="1300">
                <a:solidFill>
                  <a:schemeClr val="dk1"/>
                </a:solidFill>
                <a:highlight>
                  <a:schemeClr val="lt1"/>
                </a:highlight>
              </a:rPr>
              <a:t>What is the primary advantage of using Paired RDDs in Apache Spark?</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Paired RDDs allow for easier transformation operations on text data.</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CE5CD"/>
                </a:highlight>
              </a:rPr>
              <a:t>B) Paired RDDs enable the use of key-value pairs, useful for aggregation and grouping operations.</a:t>
            </a:r>
            <a:endParaRPr sz="1300">
              <a:solidFill>
                <a:schemeClr val="dk1"/>
              </a:solidFill>
              <a:highlight>
                <a:srgbClr val="FCE5CD"/>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C) Paired RDDs reduce the memory footprint of your Spark application.</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Paired RDDs can only be used with structured data formats.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In the context of Spark, what does the term "Word Count Example" typically refer to?</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A built-in function to count the number of words in a Spark RDD.</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CE5CD"/>
                </a:highlight>
              </a:rPr>
              <a:t>B) A widely used Spark application demonstrating the basic principles of Spark, which counts the frequency of words </a:t>
            </a:r>
            <a:r>
              <a:rPr lang="en" sz="1300">
                <a:solidFill>
                  <a:schemeClr val="dk1"/>
                </a:solidFill>
                <a:highlight>
                  <a:schemeClr val="lt1"/>
                </a:highlight>
              </a:rPr>
              <a:t>in a text document.</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C) A Spark transformation to count the number of unique words in an RDD.</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A Spark RDD operation used to calculate the average word length in a text document.</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g282e807ed40_0_22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40" name="Google Shape;640;g282e807ed40_0_229"/>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Polling Questions</a:t>
            </a:r>
            <a:endParaRPr sz="2400">
              <a:solidFill>
                <a:srgbClr val="FFFFFF"/>
              </a:solidFill>
            </a:endParaRPr>
          </a:p>
        </p:txBody>
      </p:sp>
      <p:pic>
        <p:nvPicPr>
          <p:cNvPr id="641" name="Google Shape;641;g282e807ed40_0_229"/>
          <p:cNvPicPr preferRelativeResize="0"/>
          <p:nvPr/>
        </p:nvPicPr>
        <p:blipFill rotWithShape="1">
          <a:blip r:embed="rId3">
            <a:alphaModFix amt="26000"/>
          </a:blip>
          <a:srcRect/>
          <a:stretch/>
        </p:blipFill>
        <p:spPr>
          <a:xfrm>
            <a:off x="2000250" y="636900"/>
            <a:ext cx="4506601" cy="4506601"/>
          </a:xfrm>
          <a:prstGeom prst="rect">
            <a:avLst/>
          </a:prstGeom>
          <a:noFill/>
          <a:ln>
            <a:noFill/>
          </a:ln>
        </p:spPr>
      </p:pic>
      <p:sp>
        <p:nvSpPr>
          <p:cNvPr id="642" name="Google Shape;642;g282e807ed40_0_229"/>
          <p:cNvSpPr txBox="1"/>
          <p:nvPr/>
        </p:nvSpPr>
        <p:spPr>
          <a:xfrm>
            <a:off x="0" y="814700"/>
            <a:ext cx="8833800" cy="41766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In Apache Spark, what is a DataFrame primarily designed for?</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Real-time streaming data processing.</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Complex machine learning algorithms.</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Processing structured and semi-structured data.</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Low-level data manipulation and storage.</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What is a key difference between a DataFrame and a Pandas DataFrame?</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A Pandas DataFrame is distributed across a cluster, while a DataFrame is not.</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B) A DataFrame is designed for batch processing, while a Pandas DataFrame is for real-time processing.</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C) A Pandas DataFrame is a single machine data structure, while a DataFrame is a distributed data structure.</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A DataFrame can only work with numerical data, while a Pandas DataFrame can handle any data type.</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g282e807ed40_0_23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49" name="Google Shape;649;g282e807ed40_0_239"/>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Polling Questions</a:t>
            </a:r>
            <a:endParaRPr sz="2400">
              <a:solidFill>
                <a:srgbClr val="FFFFFF"/>
              </a:solidFill>
            </a:endParaRPr>
          </a:p>
        </p:txBody>
      </p:sp>
      <p:pic>
        <p:nvPicPr>
          <p:cNvPr id="650" name="Google Shape;650;g282e807ed40_0_239"/>
          <p:cNvPicPr preferRelativeResize="0"/>
          <p:nvPr/>
        </p:nvPicPr>
        <p:blipFill rotWithShape="1">
          <a:blip r:embed="rId3">
            <a:alphaModFix amt="26000"/>
          </a:blip>
          <a:srcRect/>
          <a:stretch/>
        </p:blipFill>
        <p:spPr>
          <a:xfrm>
            <a:off x="2000250" y="636900"/>
            <a:ext cx="4506601" cy="4506601"/>
          </a:xfrm>
          <a:prstGeom prst="rect">
            <a:avLst/>
          </a:prstGeom>
          <a:noFill/>
          <a:ln>
            <a:noFill/>
          </a:ln>
        </p:spPr>
      </p:pic>
      <p:sp>
        <p:nvSpPr>
          <p:cNvPr id="651" name="Google Shape;651;g282e807ed40_0_239"/>
          <p:cNvSpPr txBox="1"/>
          <p:nvPr/>
        </p:nvSpPr>
        <p:spPr>
          <a:xfrm>
            <a:off x="0" y="814700"/>
            <a:ext cx="8833800" cy="41766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None/>
            </a:pPr>
            <a:r>
              <a:rPr lang="en" sz="1300">
                <a:solidFill>
                  <a:schemeClr val="dk1"/>
                </a:solidFill>
                <a:highlight>
                  <a:schemeClr val="lt1"/>
                </a:highlight>
              </a:rPr>
              <a:t>In Apache Spark, what is a DataFrame primarily designed for?</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Real-time streaming data processing.</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B) Complex machine learning algorithms.</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CE5CD"/>
                </a:highlight>
              </a:rPr>
              <a:t>C) Processing structured and semi-structured data.</a:t>
            </a:r>
            <a:endParaRPr sz="1300">
              <a:solidFill>
                <a:schemeClr val="dk1"/>
              </a:solidFill>
              <a:highlight>
                <a:srgbClr val="FCE5CD"/>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Low-level data manipulation and storage.</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What is a key difference between a DataFrame and a Pandas DataFrame?</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A Pandas DataFrame is distributed across a cluster, while a DataFrame is not.</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B) A DataFrame is designed for batch processing, while a Pandas DataFrame is for real-time processing.</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CE5CD"/>
                </a:highlight>
              </a:rPr>
              <a:t>C) A Pandas DataFrame is a single machine data structure, while a DataFrame is a distributed data structure.</a:t>
            </a:r>
            <a:endParaRPr sz="1300">
              <a:solidFill>
                <a:schemeClr val="dk1"/>
              </a:solidFill>
              <a:highlight>
                <a:srgbClr val="FCE5CD"/>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A DataFrame can only work with numerical data, while a Pandas DataFrame can handle any data type.</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g26ddd9e2278_0_413"/>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58" name="Google Shape;658;g26ddd9e2278_0_413"/>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Summary</a:t>
            </a:r>
            <a:endParaRPr sz="2400">
              <a:solidFill>
                <a:srgbClr val="FFFFFF"/>
              </a:solidFill>
            </a:endParaRPr>
          </a:p>
        </p:txBody>
      </p:sp>
      <p:sp>
        <p:nvSpPr>
          <p:cNvPr id="660" name="Google Shape;660;g26ddd9e2278_0_413"/>
          <p:cNvSpPr txBox="1"/>
          <p:nvPr/>
        </p:nvSpPr>
        <p:spPr>
          <a:xfrm>
            <a:off x="0" y="717250"/>
            <a:ext cx="9043500" cy="44262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1500"/>
              </a:spcBef>
              <a:spcAft>
                <a:spcPts val="0"/>
              </a:spcAft>
              <a:buClr>
                <a:schemeClr val="dk1"/>
              </a:buClr>
              <a:buSzPts val="2000"/>
              <a:buFont typeface="Arial"/>
              <a:buChar char="●"/>
            </a:pPr>
            <a:r>
              <a:rPr lang="en" sz="2000">
                <a:solidFill>
                  <a:schemeClr val="dk1"/>
                </a:solidFill>
              </a:rPr>
              <a:t>Paired RDDs are a special type of RDD in Apache Spark where each element is a key-value pair.</a:t>
            </a:r>
            <a:endParaRPr sz="2000">
              <a:solidFill>
                <a:schemeClr val="dk1"/>
              </a:solidFill>
            </a:endParaRPr>
          </a:p>
          <a:p>
            <a:pPr marL="457200" lvl="0" indent="-355600" algn="l" rtl="0">
              <a:lnSpc>
                <a:spcPct val="115000"/>
              </a:lnSpc>
              <a:spcBef>
                <a:spcPts val="0"/>
              </a:spcBef>
              <a:spcAft>
                <a:spcPts val="0"/>
              </a:spcAft>
              <a:buClr>
                <a:schemeClr val="dk1"/>
              </a:buClr>
              <a:buSzPts val="2000"/>
              <a:buFont typeface="Arial"/>
              <a:buChar char="●"/>
            </a:pPr>
            <a:r>
              <a:rPr lang="en" sz="2000">
                <a:solidFill>
                  <a:schemeClr val="dk1"/>
                </a:solidFill>
              </a:rPr>
              <a:t>Operations on paired RDDs enable complex data transformations and analysis by leveraging key-value pairs.</a:t>
            </a:r>
            <a:endParaRPr sz="2000">
              <a:solidFill>
                <a:schemeClr val="dk1"/>
              </a:solidFill>
            </a:endParaRPr>
          </a:p>
          <a:p>
            <a:pPr marL="457200" lvl="0" indent="-355600" algn="l" rtl="0">
              <a:lnSpc>
                <a:spcPct val="115000"/>
              </a:lnSpc>
              <a:spcBef>
                <a:spcPts val="0"/>
              </a:spcBef>
              <a:spcAft>
                <a:spcPts val="0"/>
              </a:spcAft>
              <a:buClr>
                <a:schemeClr val="dk1"/>
              </a:buClr>
              <a:buSzPts val="2000"/>
              <a:buFont typeface="Arial"/>
              <a:buChar char="●"/>
            </a:pPr>
            <a:r>
              <a:rPr lang="en" sz="2000">
                <a:solidFill>
                  <a:schemeClr val="dk1"/>
                </a:solidFill>
              </a:rPr>
              <a:t>DataFrames and Datasets are high-level abstractions in Apache Spark designed for structured data.</a:t>
            </a:r>
            <a:endParaRPr sz="2000">
              <a:solidFill>
                <a:schemeClr val="dk1"/>
              </a:solidFill>
            </a:endParaRPr>
          </a:p>
          <a:p>
            <a:pPr marL="457200" lvl="0" indent="-355600" algn="l" rtl="0">
              <a:lnSpc>
                <a:spcPct val="115000"/>
              </a:lnSpc>
              <a:spcBef>
                <a:spcPts val="0"/>
              </a:spcBef>
              <a:spcAft>
                <a:spcPts val="0"/>
              </a:spcAft>
              <a:buClr>
                <a:schemeClr val="dk1"/>
              </a:buClr>
              <a:buSzPts val="2000"/>
              <a:buFont typeface="Arial"/>
              <a:buChar char="●"/>
            </a:pPr>
            <a:r>
              <a:rPr lang="en" sz="2000">
                <a:solidFill>
                  <a:schemeClr val="dk1"/>
                </a:solidFill>
              </a:rPr>
              <a:t>DataFrame APIs provide a concise and expressive way to manipulate structured data.</a:t>
            </a:r>
            <a:endParaRPr sz="2000">
              <a:solidFill>
                <a:schemeClr val="dk1"/>
              </a:solidFill>
            </a:endParaRPr>
          </a:p>
          <a:p>
            <a:pPr marL="457200" lvl="0" indent="-355600" algn="l" rtl="0">
              <a:lnSpc>
                <a:spcPct val="115000"/>
              </a:lnSpc>
              <a:spcBef>
                <a:spcPts val="0"/>
              </a:spcBef>
              <a:spcAft>
                <a:spcPts val="0"/>
              </a:spcAft>
              <a:buClr>
                <a:schemeClr val="dk1"/>
              </a:buClr>
              <a:buSzPts val="2000"/>
              <a:buFont typeface="Arial"/>
              <a:buChar char="●"/>
            </a:pPr>
            <a:r>
              <a:rPr lang="en" sz="2000">
                <a:solidFill>
                  <a:schemeClr val="dk1"/>
                </a:solidFill>
              </a:rPr>
              <a:t>Users can read data from various sources, define schemas, and perform SQL-like operations.</a:t>
            </a:r>
            <a:endParaRPr sz="2000">
              <a:solidFill>
                <a:schemeClr val="dk1"/>
              </a:solidFill>
            </a:endParaRPr>
          </a:p>
          <a:p>
            <a:pPr marL="457200" lvl="0" indent="-355600" algn="l" rtl="0">
              <a:lnSpc>
                <a:spcPct val="115000"/>
              </a:lnSpc>
              <a:spcBef>
                <a:spcPts val="0"/>
              </a:spcBef>
              <a:spcAft>
                <a:spcPts val="0"/>
              </a:spcAft>
              <a:buClr>
                <a:schemeClr val="dk1"/>
              </a:buClr>
              <a:buSzPts val="2000"/>
              <a:buFont typeface="Arial"/>
              <a:buChar char="●"/>
            </a:pPr>
            <a:r>
              <a:rPr lang="en" sz="2000">
                <a:solidFill>
                  <a:schemeClr val="dk1"/>
                </a:solidFill>
              </a:rPr>
              <a:t>DataFrame operations encompass a wide range of data manipulation tasks.</a:t>
            </a:r>
            <a:endParaRPr sz="2000">
              <a:solidFill>
                <a:schemeClr val="dk1"/>
              </a:solidFill>
            </a:endParaRPr>
          </a:p>
        </p:txBody>
      </p:sp>
    </p:spTree>
  </p:cSld>
  <p:clrMapOvr>
    <a:masterClrMapping/>
  </p:clrMapOvr>
</p:sld>
</file>

<file path=ppt/theme/theme1.xml><?xml version="1.0" encoding="utf-8"?>
<a:theme xmlns:a="http://schemas.openxmlformats.org/drawingml/2006/main" name="Normal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2396</Words>
  <Application>Microsoft Office PowerPoint</Application>
  <PresentationFormat>On-screen Show (16:9)</PresentationFormat>
  <Paragraphs>162</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Courier New</vt:lpstr>
      <vt:lpstr>Arial</vt:lpstr>
      <vt:lpstr>Proxima Nova</vt:lpstr>
      <vt:lpstr>Calibri</vt:lpstr>
      <vt:lpstr>Normal Slides</vt:lpstr>
      <vt:lpstr>Introduction to Paired RDDs</vt:lpstr>
      <vt:lpstr>Introduction to Paired RDDs</vt:lpstr>
      <vt:lpstr>Introduction to Paired RDDs</vt:lpstr>
      <vt:lpstr>Introduction to Paired RDDs</vt:lpstr>
      <vt:lpstr>Introduction to Paired RDDs</vt:lpstr>
      <vt:lpstr>Introduction to Paired RDDs</vt:lpstr>
      <vt:lpstr>Introduction to Paired RDDs</vt:lpstr>
      <vt:lpstr>Operations on Paired RDDs</vt:lpstr>
      <vt:lpstr>Operations on Paired RDDs</vt:lpstr>
      <vt:lpstr>Operations on Paired RDDs</vt:lpstr>
      <vt:lpstr>Examples: </vt:lpstr>
      <vt:lpstr>Examples: </vt:lpstr>
      <vt:lpstr>Introduction to Structured APIs</vt:lpstr>
      <vt:lpstr>Introduction to Structured APIs</vt:lpstr>
      <vt:lpstr>Introduction to Structured APIs</vt:lpstr>
      <vt:lpstr>Dataframes and Datasets</vt:lpstr>
      <vt:lpstr>Introduction to Structured APIs</vt:lpstr>
      <vt:lpstr>Getting Started With Dataframe APIs</vt:lpstr>
      <vt:lpstr>Getting Started With Dataframe APIs</vt:lpstr>
      <vt:lpstr>Create a Dataframe from RDDs</vt:lpstr>
      <vt:lpstr>Create a Dataframe from RDDs</vt:lpstr>
      <vt:lpstr>Create dataframes from Pandas dataframes </vt:lpstr>
      <vt:lpstr>Create dataframes from Pandas dataframes </vt:lpstr>
      <vt:lpstr>Create dataframes from Pandas dataframes </vt:lpstr>
      <vt:lpstr>Polling Questions</vt:lpstr>
      <vt:lpstr>Polling Questions</vt:lpstr>
      <vt:lpstr>Polling Questions</vt:lpstr>
      <vt:lpstr>Polling Questions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Sajjad manzoor mir</cp:lastModifiedBy>
  <cp:revision>3</cp:revision>
  <dcterms:modified xsi:type="dcterms:W3CDTF">2025-03-30T07:16:40Z</dcterms:modified>
</cp:coreProperties>
</file>